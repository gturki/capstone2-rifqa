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2" y="3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10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Rifqa means companionship in Arabic. It is a Spring Boot REST API that matches roommates by lifestyle using AI, and covers everything after the match: rooms, agreements, reviews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matching is random, rules are verbal, and there is no trust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Abdullah is a hypothetical user. Each thing that goes wrong for him maps to a missing feature: matching, room search, agreements and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problem from Abdullah's story has a matching feature in Rifqa.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external services are the OpenAI-compatible chat API for matching and Gmail SMTP for email. The AI only receives lifestyle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73 endpoints, these 15 carry the business logic. They follow a user from getting matched to reviewing their roommate.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 and confirm are split on purpose: the AI proposes, the user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output is never trusted blindly: the score is clamped and the suggested ID must be one of the candidates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is built around what users care about: city and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renter ID in the path is checked against the listing owner, so one renter can't answer requests for another renter's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flow DRAFT, ACTIVE, TERMINATED controls what can be edited and when reviews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can only come from real roommates, which makes the rating meaningful. Reports are handled by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1261872"/>
            <a:ext cx="118872" cy="118872"/>
          </a:xfrm>
          <a:prstGeom prst="rect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·  CAPSTONE 2 PROJECT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Rifqa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416052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 rtl="1">
              <a:buNone/>
            </a:pPr>
            <a:r>
              <a:rPr lang="ar-SA" altLang="en-US" sz="5000" b="1" dirty="0">
                <a:solidFill>
                  <a:srgbClr val="EDB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رفقة</a:t>
            </a:r>
            <a:endParaRPr lang="ar-SA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roommate who fits your life.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roommate matching REST API built with Spring Boot and MySQL.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Turki Alghamdi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Majd Alzahrani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8787384" y="1234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Shape 10"/>
          <p:cNvSpPr/>
          <p:nvPr/>
        </p:nvSpPr>
        <p:spPr>
          <a:xfrm>
            <a:off x="9299448" y="1234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9811512" y="12344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10323576" y="1234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Shape 13"/>
          <p:cNvSpPr/>
          <p:nvPr/>
        </p:nvSpPr>
        <p:spPr>
          <a:xfrm>
            <a:off x="10835640" y="1234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Shape 15"/>
          <p:cNvSpPr/>
          <p:nvPr/>
        </p:nvSpPr>
        <p:spPr>
          <a:xfrm>
            <a:off x="8787384" y="1691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Shape 16"/>
          <p:cNvSpPr/>
          <p:nvPr/>
        </p:nvSpPr>
        <p:spPr>
          <a:xfrm>
            <a:off x="9299448" y="16916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Shape 17"/>
          <p:cNvSpPr/>
          <p:nvPr/>
        </p:nvSpPr>
        <p:spPr>
          <a:xfrm>
            <a:off x="9811512" y="1691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Shape 18"/>
          <p:cNvSpPr/>
          <p:nvPr/>
        </p:nvSpPr>
        <p:spPr>
          <a:xfrm>
            <a:off x="10323576" y="1691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1" name="Shape 19"/>
          <p:cNvSpPr/>
          <p:nvPr/>
        </p:nvSpPr>
        <p:spPr>
          <a:xfrm>
            <a:off x="10835640" y="16916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Shape 20"/>
          <p:cNvSpPr/>
          <p:nvPr/>
        </p:nvSpPr>
        <p:spPr>
          <a:xfrm>
            <a:off x="8275320" y="21488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Shape 21"/>
          <p:cNvSpPr/>
          <p:nvPr/>
        </p:nvSpPr>
        <p:spPr>
          <a:xfrm>
            <a:off x="8787384" y="21488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Shape 22"/>
          <p:cNvSpPr/>
          <p:nvPr/>
        </p:nvSpPr>
        <p:spPr>
          <a:xfrm>
            <a:off x="9299448" y="21488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9811512" y="21488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Shape 24"/>
          <p:cNvSpPr/>
          <p:nvPr/>
        </p:nvSpPr>
        <p:spPr>
          <a:xfrm>
            <a:off x="10323576" y="21488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Shape 25"/>
          <p:cNvSpPr/>
          <p:nvPr/>
        </p:nvSpPr>
        <p:spPr>
          <a:xfrm>
            <a:off x="10835640" y="21488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Shape 26"/>
          <p:cNvSpPr/>
          <p:nvPr/>
        </p:nvSpPr>
        <p:spPr>
          <a:xfrm>
            <a:off x="8275320" y="26060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Shape 27"/>
          <p:cNvSpPr/>
          <p:nvPr/>
        </p:nvSpPr>
        <p:spPr>
          <a:xfrm>
            <a:off x="8787384" y="26060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Shape 28"/>
          <p:cNvSpPr/>
          <p:nvPr/>
        </p:nvSpPr>
        <p:spPr>
          <a:xfrm>
            <a:off x="9299448" y="26060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1" name="Shape 29"/>
          <p:cNvSpPr/>
          <p:nvPr/>
        </p:nvSpPr>
        <p:spPr>
          <a:xfrm>
            <a:off x="9811512" y="26060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2" name="Shape 30"/>
          <p:cNvSpPr/>
          <p:nvPr/>
        </p:nvSpPr>
        <p:spPr>
          <a:xfrm>
            <a:off x="10323576" y="26060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Shape 31"/>
          <p:cNvSpPr/>
          <p:nvPr/>
        </p:nvSpPr>
        <p:spPr>
          <a:xfrm>
            <a:off x="10835640" y="26060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4" name="Shape 32"/>
          <p:cNvSpPr/>
          <p:nvPr/>
        </p:nvSpPr>
        <p:spPr>
          <a:xfrm>
            <a:off x="8275320" y="30632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5" name="Shape 33"/>
          <p:cNvSpPr/>
          <p:nvPr/>
        </p:nvSpPr>
        <p:spPr>
          <a:xfrm>
            <a:off x="8787384" y="30632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Shape 34"/>
          <p:cNvSpPr/>
          <p:nvPr/>
        </p:nvSpPr>
        <p:spPr>
          <a:xfrm>
            <a:off x="9299448" y="30632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7" name="Shape 35"/>
          <p:cNvSpPr/>
          <p:nvPr/>
        </p:nvSpPr>
        <p:spPr>
          <a:xfrm>
            <a:off x="9811512" y="30632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8" name="Shape 36"/>
          <p:cNvSpPr/>
          <p:nvPr/>
        </p:nvSpPr>
        <p:spPr>
          <a:xfrm>
            <a:off x="10323576" y="30632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9" name="Shape 37"/>
          <p:cNvSpPr/>
          <p:nvPr/>
        </p:nvSpPr>
        <p:spPr>
          <a:xfrm>
            <a:off x="10835640" y="30632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0" name="Shape 38"/>
          <p:cNvSpPr/>
          <p:nvPr/>
        </p:nvSpPr>
        <p:spPr>
          <a:xfrm>
            <a:off x="8275320" y="3520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1" name="Shape 39"/>
          <p:cNvSpPr/>
          <p:nvPr/>
        </p:nvSpPr>
        <p:spPr>
          <a:xfrm>
            <a:off x="8787384" y="35204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2" name="Shape 40"/>
          <p:cNvSpPr/>
          <p:nvPr/>
        </p:nvSpPr>
        <p:spPr>
          <a:xfrm>
            <a:off x="9299448" y="3520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3" name="Shape 41"/>
          <p:cNvSpPr/>
          <p:nvPr/>
        </p:nvSpPr>
        <p:spPr>
          <a:xfrm>
            <a:off x="9811512" y="3520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4" name="Shape 42"/>
          <p:cNvSpPr/>
          <p:nvPr/>
        </p:nvSpPr>
        <p:spPr>
          <a:xfrm>
            <a:off x="10323576" y="35204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5" name="Shape 43"/>
          <p:cNvSpPr/>
          <p:nvPr/>
        </p:nvSpPr>
        <p:spPr>
          <a:xfrm>
            <a:off x="10835640" y="3520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6" name="Shape 44"/>
          <p:cNvSpPr/>
          <p:nvPr/>
        </p:nvSpPr>
        <p:spPr>
          <a:xfrm>
            <a:off x="8275320" y="39776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7" name="Shape 45"/>
          <p:cNvSpPr/>
          <p:nvPr/>
        </p:nvSpPr>
        <p:spPr>
          <a:xfrm>
            <a:off x="8787384" y="3977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8" name="Shape 46"/>
          <p:cNvSpPr/>
          <p:nvPr/>
        </p:nvSpPr>
        <p:spPr>
          <a:xfrm>
            <a:off x="9299448" y="3977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9" name="Shape 47"/>
          <p:cNvSpPr/>
          <p:nvPr/>
        </p:nvSpPr>
        <p:spPr>
          <a:xfrm>
            <a:off x="9811512" y="39776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0" name="Shape 48"/>
          <p:cNvSpPr/>
          <p:nvPr/>
        </p:nvSpPr>
        <p:spPr>
          <a:xfrm>
            <a:off x="10323576" y="3977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1" name="Shape 49"/>
          <p:cNvSpPr/>
          <p:nvPr/>
        </p:nvSpPr>
        <p:spPr>
          <a:xfrm>
            <a:off x="10835640" y="3977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2" name="Text 50"/>
          <p:cNvSpPr txBox="1"/>
          <p:nvPr/>
        </p:nvSpPr>
        <p:spPr>
          <a:xfrm>
            <a:off x="8257032" y="6355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DD70582-EF05-001E-C1E2-FA8FE33AF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578" y="5029200"/>
            <a:ext cx="3414843" cy="14744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roommate is still a gamble.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young professionals moving to a new city often share a home with someone they barely know.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3361944" cy="374904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731520" cy="73152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293339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3703320"/>
            <a:ext cx="263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by luck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572000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Roommates come from group chats and word of mouth. Nobody compares sleep schedules, cleanliness or budgets first.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13504" y="2331720"/>
            <a:ext cx="3361944" cy="374904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Shape 9"/>
          <p:cNvSpPr/>
          <p:nvPr/>
        </p:nvSpPr>
        <p:spPr>
          <a:xfrm>
            <a:off x="4779264" y="2743200"/>
            <a:ext cx="731520" cy="73152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459" y="29333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79264" y="3703320"/>
            <a:ext cx="263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nobody wrote down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779264" y="4572000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guests and cleaning are agreed verbally, so every disagreement becomes one word against another.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95488" y="2331720"/>
            <a:ext cx="3361944" cy="374904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7" name="Shape 13"/>
          <p:cNvSpPr/>
          <p:nvPr/>
        </p:nvSpPr>
        <p:spPr>
          <a:xfrm>
            <a:off x="8461248" y="2743200"/>
            <a:ext cx="731520" cy="73152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443" y="29333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61248" y="3703320"/>
            <a:ext cx="2630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know who to trust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61248" y="4572000"/>
            <a:ext cx="2630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verification, no history of past roommates and nowhere to report bad behavior.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8887600-CB86-8579-4AA3-EAEC91F1A8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Abdullah.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36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made-up story, but a familiar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777240" cy="777240"/>
          </a:xfrm>
          <a:prstGeom prst="ellipse">
            <a:avLst/>
          </a:prstGeom>
          <a:solidFill>
            <a:srgbClr val="21443F"/>
          </a:solidFill>
          <a:ln w="12700">
            <a:solidFill>
              <a:srgbClr val="21443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62" y="2716682"/>
            <a:ext cx="373075" cy="3730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Abdullah, 24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engineer, just moved to Riyadh for a new job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 rot="2700000">
            <a:off x="1143000" y="4754880"/>
            <a:ext cx="91440" cy="91440"/>
          </a:xfrm>
          <a:prstGeom prst="rect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9"/>
          <p:cNvSpPr txBox="1"/>
          <p:nvPr/>
        </p:nvSpPr>
        <p:spPr>
          <a:xfrm>
            <a:off x="137160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bird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rot="2700000">
            <a:off x="1143000" y="5084064"/>
            <a:ext cx="91440" cy="91440"/>
          </a:xfrm>
          <a:prstGeom prst="rect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1"/>
          <p:cNvSpPr txBox="1"/>
          <p:nvPr/>
        </p:nvSpPr>
        <p:spPr>
          <a:xfrm>
            <a:off x="1371600" y="4992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Tidy, 4 out of 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 rot="2700000">
            <a:off x="1143000" y="5413248"/>
            <a:ext cx="91440" cy="91440"/>
          </a:xfrm>
          <a:prstGeom prst="rect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3"/>
          <p:cNvSpPr txBox="1"/>
          <p:nvPr/>
        </p:nvSpPr>
        <p:spPr>
          <a:xfrm>
            <a:off x="1371600" y="5321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 rot="2700000">
            <a:off x="1143000" y="5742432"/>
            <a:ext cx="91440" cy="91440"/>
          </a:xfrm>
          <a:prstGeom prst="rect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Text 15"/>
          <p:cNvSpPr txBox="1"/>
          <p:nvPr/>
        </p:nvSpPr>
        <p:spPr>
          <a:xfrm>
            <a:off x="1371600" y="5650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2,500 SAR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00600" y="2468880"/>
            <a:ext cx="0" cy="3017520"/>
          </a:xfrm>
          <a:prstGeom prst="line">
            <a:avLst/>
          </a:prstGeom>
          <a:noFill/>
          <a:ln w="1905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Shape 17"/>
          <p:cNvSpPr/>
          <p:nvPr/>
        </p:nvSpPr>
        <p:spPr>
          <a:xfrm>
            <a:off x="4572000" y="2148840"/>
            <a:ext cx="457200" cy="457200"/>
          </a:xfrm>
          <a:prstGeom prst="ellipse">
            <a:avLst/>
          </a:prstGeom>
          <a:solidFill>
            <a:srgbClr val="B4532A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1" name="Text 18"/>
          <p:cNvSpPr txBox="1"/>
          <p:nvPr/>
        </p:nvSpPr>
        <p:spPr>
          <a:xfrm>
            <a:off x="45720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13055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a room in a group chat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303520" y="24963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takes the first listing in his budget, knowing nothing about who else lives there.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0" y="3154680"/>
            <a:ext cx="457200" cy="457200"/>
          </a:xfrm>
          <a:prstGeom prst="ellipse">
            <a:avLst/>
          </a:prstGeom>
          <a:solidFill>
            <a:srgbClr val="B4532A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Text 22"/>
          <p:cNvSpPr txBox="1"/>
          <p:nvPr/>
        </p:nvSpPr>
        <p:spPr>
          <a:xfrm>
            <a:off x="45720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303520" y="313639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Moves in with a night owl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350215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roommate smokes indoors and hosts guests after midnight. Abdullah wakes up at 6.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B4532A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ext 26"/>
          <p:cNvSpPr txBox="1"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303520" y="414223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Argues over rules no one wrote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303520" y="45079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rent split, guests and cleaning were only spoken agreements.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572000" y="5166360"/>
            <a:ext cx="457200" cy="457200"/>
          </a:xfrm>
          <a:prstGeom prst="ellipse">
            <a:avLst/>
          </a:prstGeom>
          <a:solidFill>
            <a:srgbClr val="B4532A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Text 30"/>
          <p:cNvSpPr txBox="1"/>
          <p:nvPr/>
        </p:nvSpPr>
        <p:spPr>
          <a:xfrm>
            <a:off x="45720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303520" y="51480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Leaves after two months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5303520" y="551383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nothing warns the next person who moves in.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54623A6-F47A-88AE-57A5-FFF2036D2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Rifqa turns luck into a process.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RIFQA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3829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1031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Roommate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from a group chat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35000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949440" y="2103120"/>
            <a:ext cx="4507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3" name="Text 9"/>
          <p:cNvSpPr txBox="1"/>
          <p:nvPr/>
        </p:nvSpPr>
        <p:spPr>
          <a:xfrm>
            <a:off x="7178040" y="21031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match on lifestyle, in his city, with a score and the reasons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33887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08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743200" y="3108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posts and waiting on calls</a:t>
            </a:r>
            <a:endParaRPr lang="en-US" sz="15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35584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949440" y="3108960"/>
            <a:ext cx="4507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0" name="Text 14"/>
          <p:cNvSpPr txBox="1"/>
          <p:nvPr/>
        </p:nvSpPr>
        <p:spPr>
          <a:xfrm>
            <a:off x="7178040" y="3108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available rooms by city or budget, and get an email when accepted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439460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148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rules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2743200" y="4114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promises</a:t>
            </a:r>
            <a:endParaRPr lang="en-US" sz="15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361688"/>
            <a:ext cx="329184" cy="32918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949440" y="4114800"/>
            <a:ext cx="4507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7" name="Text 19"/>
          <p:cNvSpPr txBox="1"/>
          <p:nvPr/>
        </p:nvSpPr>
        <p:spPr>
          <a:xfrm>
            <a:off x="7178040" y="4114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agreement whose rules lock once it becomes active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400446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63040" y="5120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274320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go on</a:t>
            </a:r>
            <a:endParaRPr lang="en-US" sz="15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67528"/>
            <a:ext cx="329184" cy="32918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949440" y="5120640"/>
            <a:ext cx="450799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4" name="Text 24"/>
          <p:cNvSpPr txBox="1"/>
          <p:nvPr/>
        </p:nvSpPr>
        <p:spPr>
          <a:xfrm>
            <a:off x="7178040" y="51206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Admin-verified accounts, reviews after every agreement, and reports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F9DDF3C-1C86-BB62-4461-875F274C7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Rifqa is built with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475738" cy="41148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1051560" y="2240280"/>
            <a:ext cx="640080" cy="64008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301752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61188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90448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38912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68172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7 web layer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16636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45896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boilerplate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81578" y="1920240"/>
            <a:ext cx="2475738" cy="41148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6" name="Shape 13"/>
          <p:cNvSpPr/>
          <p:nvPr/>
        </p:nvSpPr>
        <p:spPr>
          <a:xfrm>
            <a:off x="3801618" y="2240280"/>
            <a:ext cx="640080" cy="64008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039" y="240670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801618" y="301752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3801618" y="361188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801618" y="390448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801618" y="438912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3801618" y="468172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Hibernate 7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801618" y="516636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Validation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3801618" y="545896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 every field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31636" y="1920240"/>
            <a:ext cx="2475738" cy="4114800"/>
          </a:xfrm>
          <a:prstGeom prst="roundRect">
            <a:avLst>
              <a:gd name="adj" fmla="val 4432"/>
            </a:avLst>
          </a:prstGeom>
          <a:solidFill>
            <a:srgbClr val="16302C"/>
          </a:solidFill>
          <a:ln w="9525">
            <a:solidFill>
              <a:srgbClr val="16302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6" name="Shape 22"/>
          <p:cNvSpPr/>
          <p:nvPr/>
        </p:nvSpPr>
        <p:spPr>
          <a:xfrm>
            <a:off x="6551676" y="2240280"/>
            <a:ext cx="640080" cy="640080"/>
          </a:xfrm>
          <a:prstGeom prst="ellips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097" y="2406701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551676" y="301752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APIs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6551676" y="361188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API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551676" y="390448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for AI matching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551676" y="438912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Mail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6551676" y="468172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notifications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551676" y="516636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3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6551676" y="545896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AI's JSON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8981694" y="1920240"/>
            <a:ext cx="2475738" cy="4114800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6" name="Shape 31"/>
          <p:cNvSpPr/>
          <p:nvPr/>
        </p:nvSpPr>
        <p:spPr>
          <a:xfrm>
            <a:off x="9301734" y="2240280"/>
            <a:ext cx="640080" cy="640080"/>
          </a:xfrm>
          <a:prstGeom prst="ellipse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155" y="2406701"/>
            <a:ext cx="307238" cy="30723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301734" y="301752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2000" dirty="0"/>
          </a:p>
        </p:txBody>
      </p:sp>
      <p:sp>
        <p:nvSpPr>
          <p:cNvPr id="39" name="Text 33"/>
          <p:cNvSpPr txBox="1"/>
          <p:nvPr/>
        </p:nvSpPr>
        <p:spPr>
          <a:xfrm>
            <a:off x="9301734" y="361188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9301734" y="390448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tested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9301734" y="4389120"/>
            <a:ext cx="183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9301734" y="4681728"/>
            <a:ext cx="183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run config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FDCD763-E16B-1788-4BE5-D69FA1D24F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 rot="2700000">
            <a:off x="749808" y="896112"/>
            <a:ext cx="118872" cy="118872"/>
          </a:xfrm>
          <a:prstGeom prst="rect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Text 2"/>
          <p:cNvSpPr txBox="1"/>
          <p:nvPr/>
        </p:nvSpPr>
        <p:spPr>
          <a:xfrm>
            <a:off x="1024128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ENDPOINTS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across 10 controllers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EDB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tell the story, from match to review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are standard CRUD.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640080" cy="640080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421" y="98938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40680" y="777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777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Matching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1188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 roommate  ·  Confirm a match  ·  Unmatch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08666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4068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04–06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Listings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544068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by city  ·  Rooms under a budget  ·  Toggle availability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72000" y="3017520"/>
            <a:ext cx="640080" cy="640080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318394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4068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07–09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Requests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5440680" y="3383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room  ·  Accept a request  ·  Reject a request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421" y="428122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4068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263640" y="4069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Agreements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5440680" y="4480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house rule  ·  Activate  ·  Terminate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572000" y="5212080"/>
            <a:ext cx="640080" cy="640080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421" y="5378501"/>
            <a:ext cx="307238" cy="30723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440680" y="5166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26364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Safety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5440680" y="55778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roommate  ·  Average rating  ·  Resolve a report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7134298-39DA-4D3A-3F26-3D1D8FFB90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01–03  ·  AI MATCHING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that explains itself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 txBox="1"/>
          <p:nvPr/>
        </p:nvSpPr>
        <p:spPr>
          <a:xfrm>
            <a:off x="1051560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2F6F62"/>
          </a:solidFill>
          <a:ln w="12700">
            <a:solidFill>
              <a:srgbClr val="2F6F6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 txBox="1"/>
          <p:nvPr/>
        </p:nvSpPr>
        <p:spPr>
          <a:xfrm>
            <a:off x="105156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 a roommate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51560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 txBox="1"/>
          <p:nvPr/>
        </p:nvSpPr>
        <p:spPr>
          <a:xfrm>
            <a:off x="1143000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/api/v1/match/suggest/{userId}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up to 50 same-city, same-gender candidates to the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best fit with a 0–100 score and reasons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saved yet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13504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 txBox="1"/>
          <p:nvPr/>
        </p:nvSpPr>
        <p:spPr>
          <a:xfrm>
            <a:off x="4733544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733544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 txBox="1"/>
          <p:nvPr/>
        </p:nvSpPr>
        <p:spPr>
          <a:xfrm>
            <a:off x="4733544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33544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a match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733544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 txBox="1"/>
          <p:nvPr/>
        </p:nvSpPr>
        <p:spPr>
          <a:xfrm>
            <a:off x="4824984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/api/v1/match/confirm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33544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users must be LOOKING and not already matched, in either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both to MATCHED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both users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5488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 txBox="1"/>
          <p:nvPr/>
        </p:nvSpPr>
        <p:spPr>
          <a:xfrm>
            <a:off x="8415528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415528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7A2E3B"/>
          </a:solidFill>
          <a:ln w="12700">
            <a:solidFill>
              <a:srgbClr val="7A2E3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 txBox="1"/>
          <p:nvPr/>
        </p:nvSpPr>
        <p:spPr>
          <a:xfrm>
            <a:off x="8415528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5528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Unmatch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415528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Text 25"/>
          <p:cNvSpPr txBox="1"/>
          <p:nvPr/>
        </p:nvSpPr>
        <p:spPr>
          <a:xfrm>
            <a:off x="8506968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/api/v1/match/delete/{id}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15528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match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both users back in the LOOKING pool so they can get new suggestions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12A0EA6-111E-494F-599C-B74FD0308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 ·  ENDPOINT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AI match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0" cy="3383280"/>
          </a:xfrm>
          <a:prstGeom prst="line">
            <a:avLst/>
          </a:prstGeom>
          <a:noFill/>
          <a:ln w="1905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16302C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user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exist and have status LOOKING.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679192"/>
            <a:ext cx="457200" cy="457200"/>
          </a:xfrm>
          <a:prstGeom prst="ellipse">
            <a:avLst/>
          </a:prstGeom>
          <a:solidFill>
            <a:srgbClr val="16302C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 txBox="1"/>
          <p:nvPr/>
        </p:nvSpPr>
        <p:spPr>
          <a:xfrm>
            <a:off x="73152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candidates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980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users in the same city and gender, up to 50.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529584"/>
            <a:ext cx="457200" cy="457200"/>
          </a:xfrm>
          <a:prstGeom prst="ellipse">
            <a:avLst/>
          </a:prstGeom>
          <a:solidFill>
            <a:srgbClr val="16302C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 txBox="1"/>
          <p:nvPr/>
        </p:nvSpPr>
        <p:spPr>
          <a:xfrm>
            <a:off x="7315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502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AI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313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fields only, and the model must reply in JSON.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4379976"/>
            <a:ext cx="457200" cy="457200"/>
          </a:xfrm>
          <a:prstGeom prst="ellipse">
            <a:avLst/>
          </a:prstGeom>
          <a:solidFill>
            <a:srgbClr val="16302C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 txBox="1"/>
          <p:nvPr/>
        </p:nvSpPr>
        <p:spPr>
          <a:xfrm>
            <a:off x="73152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525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answer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81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kept within 0–100; the pick must be a real candidate.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5230368"/>
            <a:ext cx="457200" cy="457200"/>
          </a:xfrm>
          <a:prstGeom prst="ellipse">
            <a:avLst/>
          </a:prstGeom>
          <a:solidFill>
            <a:srgbClr val="16302C"/>
          </a:solidFill>
          <a:ln w="381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Text 21"/>
          <p:cNvSpPr txBox="1"/>
          <p:nvPr/>
        </p:nvSpPr>
        <p:spPr>
          <a:xfrm>
            <a:off x="73152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202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Return, don't save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532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reviews it, then calls POST /match/confirm.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75120" y="1828800"/>
            <a:ext cx="4782312" cy="4251960"/>
          </a:xfrm>
          <a:prstGeom prst="roundRect">
            <a:avLst>
              <a:gd name="adj" fmla="val 3011"/>
            </a:avLst>
          </a:prstGeom>
          <a:solidFill>
            <a:srgbClr val="16302C"/>
          </a:solidFill>
          <a:ln w="12700">
            <a:solidFill>
              <a:srgbClr val="1630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Text 25"/>
          <p:cNvSpPr txBox="1"/>
          <p:nvPr/>
        </p:nvSpPr>
        <p:spPr>
          <a:xfrm>
            <a:off x="70408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D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2560320"/>
            <a:ext cx="40507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B8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"userId": </a:t>
            </a: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B8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"suggestedUserId": </a:t>
            </a: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B8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"suggestedUserName": </a:t>
            </a: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"Faisal",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B8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"compatibilityScore": </a:t>
            </a: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87.0,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DB8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"aiReasoning": </a:t>
            </a: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"Both are early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birds with similar budgets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high cleanliness."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3EC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040880" y="5029200"/>
            <a:ext cx="4050792" cy="0"/>
          </a:xfrm>
          <a:prstGeom prst="line">
            <a:avLst/>
          </a:prstGeom>
          <a:noFill/>
          <a:ln w="12700">
            <a:solidFill>
              <a:srgbClr val="21443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Shape 28"/>
          <p:cNvSpPr/>
          <p:nvPr/>
        </p:nvSpPr>
        <p:spPr>
          <a:xfrm>
            <a:off x="7040880" y="5230368"/>
            <a:ext cx="457200" cy="457200"/>
          </a:xfrm>
          <a:prstGeom prst="ellips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5349240"/>
            <a:ext cx="219456" cy="21945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680960" y="5166360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emails, phone numbers and passwords never leave the server.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24C7669-58EE-D7B4-923D-12C5B2A5E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04–06  ·  ROOM LISTINGS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 people can actually afford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 txBox="1"/>
          <p:nvPr/>
        </p:nvSpPr>
        <p:spPr>
          <a:xfrm>
            <a:off x="1051560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2F6F62"/>
          </a:solidFill>
          <a:ln w="12700">
            <a:solidFill>
              <a:srgbClr val="2F6F6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 txBox="1"/>
          <p:nvPr/>
        </p:nvSpPr>
        <p:spPr>
          <a:xfrm>
            <a:off x="105156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 by city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51560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 txBox="1"/>
          <p:nvPr/>
        </p:nvSpPr>
        <p:spPr>
          <a:xfrm>
            <a:off x="1143000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/api/v1/room-listing/get-available-by-city/{city}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listings still marked 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 when a city has none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13504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 txBox="1"/>
          <p:nvPr/>
        </p:nvSpPr>
        <p:spPr>
          <a:xfrm>
            <a:off x="4733544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733544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2F6F62"/>
          </a:solidFill>
          <a:ln w="12700">
            <a:solidFill>
              <a:srgbClr val="2F6F6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 txBox="1"/>
          <p:nvPr/>
        </p:nvSpPr>
        <p:spPr>
          <a:xfrm>
            <a:off x="4733544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33544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 under a budget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733544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 txBox="1"/>
          <p:nvPr/>
        </p:nvSpPr>
        <p:spPr>
          <a:xfrm>
            <a:off x="4824984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/api/v1/room-listing/get-available-by-max-rent/{maxRent}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33544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listings at or below the budget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cheapest first with a custom JPQL query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5488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 txBox="1"/>
          <p:nvPr/>
        </p:nvSpPr>
        <p:spPr>
          <a:xfrm>
            <a:off x="8415528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415528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8C6A1F"/>
          </a:solidFill>
          <a:ln w="12700">
            <a:solidFill>
              <a:srgbClr val="8C6A1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 txBox="1"/>
          <p:nvPr/>
        </p:nvSpPr>
        <p:spPr>
          <a:xfrm>
            <a:off x="8415528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5528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Toggle availability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415528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Text 25"/>
          <p:cNvSpPr txBox="1"/>
          <p:nvPr/>
        </p:nvSpPr>
        <p:spPr>
          <a:xfrm>
            <a:off x="8506968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/api/v1/room-listing/toggle-availability/{id}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15528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a listing between available and not 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rooms can't receive new requests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C85432E-5BF5-BFB3-9058-3256BBC06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07–09  ·  LISTING REQUESTS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owner decides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 txBox="1"/>
          <p:nvPr/>
        </p:nvSpPr>
        <p:spPr>
          <a:xfrm>
            <a:off x="1051560" y="187452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74520" y="210312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 txBox="1"/>
          <p:nvPr/>
        </p:nvSpPr>
        <p:spPr>
          <a:xfrm>
            <a:off x="1874520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a room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874520" y="251460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 txBox="1"/>
          <p:nvPr/>
        </p:nvSpPr>
        <p:spPr>
          <a:xfrm>
            <a:off x="1965960" y="25146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/api/v1/listing-request/add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3880" y="2103120"/>
            <a:ext cx="0" cy="777240"/>
          </a:xfrm>
          <a:prstGeom prst="line">
            <a:avLst/>
          </a:prstGeom>
          <a:noFill/>
          <a:ln w="1270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 txBox="1"/>
          <p:nvPr/>
        </p:nvSpPr>
        <p:spPr>
          <a:xfrm>
            <a:off x="8412480" y="201168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must be available. One request per user per listing; it starts as PENDING.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 txBox="1"/>
          <p:nvPr/>
        </p:nvSpPr>
        <p:spPr>
          <a:xfrm>
            <a:off x="1051560" y="333756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874520" y="356616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8C6A1F"/>
          </a:solidFill>
          <a:ln w="12700">
            <a:solidFill>
              <a:srgbClr val="8C6A1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 txBox="1"/>
          <p:nvPr/>
        </p:nvSpPr>
        <p:spPr>
          <a:xfrm>
            <a:off x="1874520" y="3566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a request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874520" y="397764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 txBox="1"/>
          <p:nvPr/>
        </p:nvSpPr>
        <p:spPr>
          <a:xfrm>
            <a:off x="1965960" y="3977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/api/v1/listing-request/accept/requestid/{requestId}/renterid/{renterId}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83880" y="3566160"/>
            <a:ext cx="0" cy="777240"/>
          </a:xfrm>
          <a:prstGeom prst="line">
            <a:avLst/>
          </a:prstGeom>
          <a:noFill/>
          <a:ln w="1270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 txBox="1"/>
          <p:nvPr/>
        </p:nvSpPr>
        <p:spPr>
          <a:xfrm>
            <a:off x="8412480" y="347472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only, while PENDING. Emails the user the renter's name and phone.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 txBox="1"/>
          <p:nvPr/>
        </p:nvSpPr>
        <p:spPr>
          <a:xfrm>
            <a:off x="1051560" y="480060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874520" y="50292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8C6A1F"/>
          </a:solidFill>
          <a:ln w="12700">
            <a:solidFill>
              <a:srgbClr val="8C6A1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 txBox="1"/>
          <p:nvPr/>
        </p:nvSpPr>
        <p:spPr>
          <a:xfrm>
            <a:off x="1874520" y="5029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a request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1874520" y="544068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ext 27"/>
          <p:cNvSpPr txBox="1"/>
          <p:nvPr/>
        </p:nvSpPr>
        <p:spPr>
          <a:xfrm>
            <a:off x="1965960" y="5440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/api/v1/listing-request/reject/requestid/{requestId}/renterid/{renterId}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83880" y="5029200"/>
            <a:ext cx="0" cy="777240"/>
          </a:xfrm>
          <a:prstGeom prst="line">
            <a:avLst/>
          </a:prstGeom>
          <a:noFill/>
          <a:ln w="1270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1" name="Text 29"/>
          <p:cNvSpPr txBox="1"/>
          <p:nvPr/>
        </p:nvSpPr>
        <p:spPr>
          <a:xfrm>
            <a:off x="8412480" y="493776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owner and PENDING checks. A decided request can't change again.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F5885DF-E2F3-E574-7C52-AF5D1245E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10–12  ·  AGREEMENTS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rules, written and locked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 txBox="1"/>
          <p:nvPr/>
        </p:nvSpPr>
        <p:spPr>
          <a:xfrm>
            <a:off x="1051560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 txBox="1"/>
          <p:nvPr/>
        </p:nvSpPr>
        <p:spPr>
          <a:xfrm>
            <a:off x="105156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house rule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51560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 txBox="1"/>
          <p:nvPr/>
        </p:nvSpPr>
        <p:spPr>
          <a:xfrm>
            <a:off x="1143000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/api/v1/agreement-term/add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term like "No guests after 11 PM"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while the agreement is a DRAFT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13504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 txBox="1"/>
          <p:nvPr/>
        </p:nvSpPr>
        <p:spPr>
          <a:xfrm>
            <a:off x="4733544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733544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8C6A1F"/>
          </a:solidFill>
          <a:ln w="12700">
            <a:solidFill>
              <a:srgbClr val="8C6A1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 txBox="1"/>
          <p:nvPr/>
        </p:nvSpPr>
        <p:spPr>
          <a:xfrm>
            <a:off x="4733544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33544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733544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 txBox="1"/>
          <p:nvPr/>
        </p:nvSpPr>
        <p:spPr>
          <a:xfrm>
            <a:off x="4824984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/api/v1/agreement/activate/{id}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33544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ACTIVE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and its rules are now locked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5488" y="1828800"/>
            <a:ext cx="3361944" cy="4251960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 txBox="1"/>
          <p:nvPr/>
        </p:nvSpPr>
        <p:spPr>
          <a:xfrm>
            <a:off x="8415528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415528" y="269748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8C6A1F"/>
          </a:solidFill>
          <a:ln w="12700">
            <a:solidFill>
              <a:srgbClr val="8C6A1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 txBox="1"/>
          <p:nvPr/>
        </p:nvSpPr>
        <p:spPr>
          <a:xfrm>
            <a:off x="8415528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5528" y="3090672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Terminate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415528" y="3584448"/>
            <a:ext cx="2721864" cy="640080"/>
          </a:xfrm>
          <a:prstGeom prst="roundRect">
            <a:avLst>
              <a:gd name="adj" fmla="val 8571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Text 25"/>
          <p:cNvSpPr txBox="1"/>
          <p:nvPr/>
        </p:nvSpPr>
        <p:spPr>
          <a:xfrm>
            <a:off x="8506968" y="3584448"/>
            <a:ext cx="2538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/api/v1/agreement/terminate/{id}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15528" y="4434840"/>
            <a:ext cx="2721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→ TERMINATED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the agreement is what unlocks reviews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0EDBF97-EFD4-9D51-BAAE-876B3D121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" y="576072"/>
            <a:ext cx="118872" cy="118872"/>
          </a:xfrm>
          <a:prstGeom prst="rect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 txBox="1"/>
          <p:nvPr/>
        </p:nvSpPr>
        <p:spPr>
          <a:xfrm>
            <a:off x="10241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13–15  ·  TRUST &amp; SAFETY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you can check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 txBox="1"/>
          <p:nvPr/>
        </p:nvSpPr>
        <p:spPr>
          <a:xfrm>
            <a:off x="1051560" y="187452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74520" y="210312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 txBox="1"/>
          <p:nvPr/>
        </p:nvSpPr>
        <p:spPr>
          <a:xfrm>
            <a:off x="1874520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a roommate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874520" y="251460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 txBox="1"/>
          <p:nvPr/>
        </p:nvSpPr>
        <p:spPr>
          <a:xfrm>
            <a:off x="1965960" y="25146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/api/v1/review/add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3880" y="2103120"/>
            <a:ext cx="0" cy="777240"/>
          </a:xfrm>
          <a:prstGeom prst="line">
            <a:avLst/>
          </a:prstGeom>
          <a:noFill/>
          <a:ln w="1270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 txBox="1"/>
          <p:nvPr/>
        </p:nvSpPr>
        <p:spPr>
          <a:xfrm>
            <a:off x="8412480" y="201168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agreement ends. Both users must be in it; one review each.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 txBox="1"/>
          <p:nvPr/>
        </p:nvSpPr>
        <p:spPr>
          <a:xfrm>
            <a:off x="1051560" y="333756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874520" y="356616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2F6F62"/>
          </a:solidFill>
          <a:ln w="12700">
            <a:solidFill>
              <a:srgbClr val="2F6F6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 txBox="1"/>
          <p:nvPr/>
        </p:nvSpPr>
        <p:spPr>
          <a:xfrm>
            <a:off x="1874520" y="3566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rating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874520" y="397764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 txBox="1"/>
          <p:nvPr/>
        </p:nvSpPr>
        <p:spPr>
          <a:xfrm>
            <a:off x="1965960" y="3977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/api/v1/review/get-average-rating/{userId}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83880" y="3566160"/>
            <a:ext cx="0" cy="777240"/>
          </a:xfrm>
          <a:prstGeom prst="line">
            <a:avLst/>
          </a:prstGeom>
          <a:noFill/>
          <a:ln w="1270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 txBox="1"/>
          <p:nvPr/>
        </p:nvSpPr>
        <p:spPr>
          <a:xfrm>
            <a:off x="8412480" y="347472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every rating a user received with JPQL. Returns 0.0 if none.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1072591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 txBox="1"/>
          <p:nvPr/>
        </p:nvSpPr>
        <p:spPr>
          <a:xfrm>
            <a:off x="1051560" y="480060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45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874520" y="50292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8C6A1F"/>
          </a:solidFill>
          <a:ln w="12700">
            <a:solidFill>
              <a:srgbClr val="8C6A1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 txBox="1"/>
          <p:nvPr/>
        </p:nvSpPr>
        <p:spPr>
          <a:xfrm>
            <a:off x="1874520" y="5029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a report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1874520" y="5440680"/>
            <a:ext cx="6035040" cy="384048"/>
          </a:xfrm>
          <a:prstGeom prst="roundRect">
            <a:avLst>
              <a:gd name="adj" fmla="val 14286"/>
            </a:avLst>
          </a:prstGeom>
          <a:solidFill>
            <a:srgbClr val="F3ECE1"/>
          </a:solidFill>
          <a:ln w="12700">
            <a:solidFill>
              <a:srgbClr val="F3EC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ext 27"/>
          <p:cNvSpPr txBox="1"/>
          <p:nvPr/>
        </p:nvSpPr>
        <p:spPr>
          <a:xfrm>
            <a:off x="1965960" y="5440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/api/v1/admin/update-report-status/adminid/{adminId}/reportid/{reportId}/status/{status}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83880" y="5029200"/>
            <a:ext cx="0" cy="777240"/>
          </a:xfrm>
          <a:prstGeom prst="line">
            <a:avLst/>
          </a:prstGeom>
          <a:noFill/>
          <a:ln w="12700">
            <a:solidFill>
              <a:srgbClr val="D9CFC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1" name="Text 29"/>
          <p:cNvSpPr txBox="1"/>
          <p:nvPr/>
        </p:nvSpPr>
        <p:spPr>
          <a:xfrm>
            <a:off x="8412480" y="493776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only. PENDING → REVIEWED or DISMISSED, once. Any letter case works.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89CD442-65BE-29FA-2B55-FD23DEC18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008" y="-128064"/>
            <a:ext cx="3361944" cy="14515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3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EDB8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Find a roommate who fits your life.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12344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8787384" y="1234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9299448" y="1234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Shape 6"/>
          <p:cNvSpPr/>
          <p:nvPr/>
        </p:nvSpPr>
        <p:spPr>
          <a:xfrm>
            <a:off x="9811512" y="12344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" name="Shape 7"/>
          <p:cNvSpPr/>
          <p:nvPr/>
        </p:nvSpPr>
        <p:spPr>
          <a:xfrm>
            <a:off x="10323576" y="1234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Shape 8"/>
          <p:cNvSpPr/>
          <p:nvPr/>
        </p:nvSpPr>
        <p:spPr>
          <a:xfrm>
            <a:off x="10835640" y="1234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8275320" y="1691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Shape 10"/>
          <p:cNvSpPr/>
          <p:nvPr/>
        </p:nvSpPr>
        <p:spPr>
          <a:xfrm>
            <a:off x="8787384" y="1691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9299448" y="16916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9811512" y="1691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Shape 13"/>
          <p:cNvSpPr/>
          <p:nvPr/>
        </p:nvSpPr>
        <p:spPr>
          <a:xfrm>
            <a:off x="10323576" y="1691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Shape 14"/>
          <p:cNvSpPr/>
          <p:nvPr/>
        </p:nvSpPr>
        <p:spPr>
          <a:xfrm>
            <a:off x="10835640" y="16916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Shape 15"/>
          <p:cNvSpPr/>
          <p:nvPr/>
        </p:nvSpPr>
        <p:spPr>
          <a:xfrm>
            <a:off x="8275320" y="21488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Shape 16"/>
          <p:cNvSpPr/>
          <p:nvPr/>
        </p:nvSpPr>
        <p:spPr>
          <a:xfrm>
            <a:off x="8787384" y="21488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Shape 17"/>
          <p:cNvSpPr/>
          <p:nvPr/>
        </p:nvSpPr>
        <p:spPr>
          <a:xfrm>
            <a:off x="9299448" y="21488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Shape 18"/>
          <p:cNvSpPr/>
          <p:nvPr/>
        </p:nvSpPr>
        <p:spPr>
          <a:xfrm>
            <a:off x="9811512" y="21488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1" name="Shape 19"/>
          <p:cNvSpPr/>
          <p:nvPr/>
        </p:nvSpPr>
        <p:spPr>
          <a:xfrm>
            <a:off x="10323576" y="21488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Shape 20"/>
          <p:cNvSpPr/>
          <p:nvPr/>
        </p:nvSpPr>
        <p:spPr>
          <a:xfrm>
            <a:off x="10835640" y="21488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Shape 21"/>
          <p:cNvSpPr/>
          <p:nvPr/>
        </p:nvSpPr>
        <p:spPr>
          <a:xfrm>
            <a:off x="8275320" y="26060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Shape 22"/>
          <p:cNvSpPr/>
          <p:nvPr/>
        </p:nvSpPr>
        <p:spPr>
          <a:xfrm>
            <a:off x="8787384" y="26060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9299448" y="26060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Shape 24"/>
          <p:cNvSpPr/>
          <p:nvPr/>
        </p:nvSpPr>
        <p:spPr>
          <a:xfrm>
            <a:off x="9811512" y="26060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Shape 25"/>
          <p:cNvSpPr/>
          <p:nvPr/>
        </p:nvSpPr>
        <p:spPr>
          <a:xfrm>
            <a:off x="10323576" y="26060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Shape 26"/>
          <p:cNvSpPr/>
          <p:nvPr/>
        </p:nvSpPr>
        <p:spPr>
          <a:xfrm>
            <a:off x="10835640" y="26060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Shape 27"/>
          <p:cNvSpPr/>
          <p:nvPr/>
        </p:nvSpPr>
        <p:spPr>
          <a:xfrm>
            <a:off x="8275320" y="30632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Shape 28"/>
          <p:cNvSpPr/>
          <p:nvPr/>
        </p:nvSpPr>
        <p:spPr>
          <a:xfrm>
            <a:off x="8787384" y="30632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1" name="Shape 29"/>
          <p:cNvSpPr/>
          <p:nvPr/>
        </p:nvSpPr>
        <p:spPr>
          <a:xfrm>
            <a:off x="9299448" y="30632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2" name="Shape 30"/>
          <p:cNvSpPr/>
          <p:nvPr/>
        </p:nvSpPr>
        <p:spPr>
          <a:xfrm>
            <a:off x="9811512" y="30632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Shape 31"/>
          <p:cNvSpPr/>
          <p:nvPr/>
        </p:nvSpPr>
        <p:spPr>
          <a:xfrm>
            <a:off x="10323576" y="30632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4" name="Shape 32"/>
          <p:cNvSpPr/>
          <p:nvPr/>
        </p:nvSpPr>
        <p:spPr>
          <a:xfrm>
            <a:off x="10835640" y="30632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5" name="Shape 33"/>
          <p:cNvSpPr/>
          <p:nvPr/>
        </p:nvSpPr>
        <p:spPr>
          <a:xfrm>
            <a:off x="8275320" y="3520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Shape 34"/>
          <p:cNvSpPr/>
          <p:nvPr/>
        </p:nvSpPr>
        <p:spPr>
          <a:xfrm>
            <a:off x="8787384" y="35204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7" name="Shape 35"/>
          <p:cNvSpPr/>
          <p:nvPr/>
        </p:nvSpPr>
        <p:spPr>
          <a:xfrm>
            <a:off x="9299448" y="35204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8" name="Shape 36"/>
          <p:cNvSpPr/>
          <p:nvPr/>
        </p:nvSpPr>
        <p:spPr>
          <a:xfrm>
            <a:off x="9811512" y="3520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9" name="Shape 37"/>
          <p:cNvSpPr/>
          <p:nvPr/>
        </p:nvSpPr>
        <p:spPr>
          <a:xfrm>
            <a:off x="10323576" y="35204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0" name="Shape 38"/>
          <p:cNvSpPr/>
          <p:nvPr/>
        </p:nvSpPr>
        <p:spPr>
          <a:xfrm>
            <a:off x="10835640" y="35204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1" name="Shape 39"/>
          <p:cNvSpPr/>
          <p:nvPr/>
        </p:nvSpPr>
        <p:spPr>
          <a:xfrm>
            <a:off x="8275320" y="3977640"/>
            <a:ext cx="402336" cy="347472"/>
          </a:xfrm>
          <a:prstGeom prst="triangle">
            <a:avLst/>
          </a:prstGeom>
          <a:solidFill>
            <a:srgbClr val="B4532A"/>
          </a:solidFill>
          <a:ln w="12700">
            <a:solidFill>
              <a:srgbClr val="B4532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2" name="Shape 40"/>
          <p:cNvSpPr/>
          <p:nvPr/>
        </p:nvSpPr>
        <p:spPr>
          <a:xfrm>
            <a:off x="8787384" y="3977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3" name="Shape 41"/>
          <p:cNvSpPr/>
          <p:nvPr/>
        </p:nvSpPr>
        <p:spPr>
          <a:xfrm>
            <a:off x="9299448" y="3977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4" name="Shape 42"/>
          <p:cNvSpPr/>
          <p:nvPr/>
        </p:nvSpPr>
        <p:spPr>
          <a:xfrm>
            <a:off x="9811512" y="3977640"/>
            <a:ext cx="402336" cy="347472"/>
          </a:xfrm>
          <a:prstGeom prst="triangle">
            <a:avLst/>
          </a:prstGeom>
          <a:solidFill>
            <a:srgbClr val="B4532A">
              <a:alpha val="65000"/>
            </a:srgbClr>
          </a:solidFill>
          <a:ln w="12700">
            <a:solidFill>
              <a:srgbClr val="B4532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5" name="Shape 43"/>
          <p:cNvSpPr/>
          <p:nvPr/>
        </p:nvSpPr>
        <p:spPr>
          <a:xfrm>
            <a:off x="10323576" y="3977640"/>
            <a:ext cx="402336" cy="347472"/>
          </a:xfrm>
          <a:prstGeom prst="triangle">
            <a:avLst/>
          </a:prstGeom>
          <a:solidFill>
            <a:srgbClr val="EDB897"/>
          </a:solidFill>
          <a:ln w="12700">
            <a:solidFill>
              <a:srgbClr val="EDB89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6" name="Shape 44"/>
          <p:cNvSpPr/>
          <p:nvPr/>
        </p:nvSpPr>
        <p:spPr>
          <a:xfrm>
            <a:off x="10835640" y="3977640"/>
            <a:ext cx="402336" cy="347472"/>
          </a:xfrm>
          <a:prstGeom prst="triangle">
            <a:avLst/>
          </a:prstGeom>
          <a:solidFill>
            <a:srgbClr val="EDB897">
              <a:alpha val="65000"/>
            </a:srgbClr>
          </a:solidFill>
          <a:ln w="12700">
            <a:solidFill>
              <a:srgbClr val="EDB89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7" name="Text 45"/>
          <p:cNvSpPr txBox="1"/>
          <p:nvPr/>
        </p:nvSpPr>
        <p:spPr>
          <a:xfrm>
            <a:off x="7315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Rifqa  ·  Spring Boot Capstone 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85832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9AE03D9-762D-560E-9EC6-8D0751E7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578" y="5029200"/>
            <a:ext cx="3414843" cy="1474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1566</Words>
  <Application>Microsoft Office PowerPoint</Application>
  <PresentationFormat>Widescreen</PresentationFormat>
  <Paragraphs>279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Rifqa – Roommate Matching API</dc:title>
  <dc:subject>PptxGenJS Presentation</dc:subject>
  <dc:creator>PptxGenJS</dc:creator>
  <cp:lastModifiedBy>Turki Alghamdi</cp:lastModifiedBy>
  <cp:revision>2</cp:revision>
  <dcterms:created xsi:type="dcterms:W3CDTF">2026-09-27T22:17:33Z</dcterms:created>
  <dcterms:modified xsi:type="dcterms:W3CDTF">2026-09-28T06:12:47Z</dcterms:modified>
</cp:coreProperties>
</file>