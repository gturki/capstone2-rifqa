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Rifqa means companionship in Arabic. It is a Spring Boot REST API that matches roommates by lifestyle using AI, and covers everything after the match: rooms, agreements, reviews and reports.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problems: matching is random, rules are verbal, and there is no trust layer.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Abdullah is a hypothetical user. Each thing that goes wrong for him maps to a missing feature: matching, room search, agreements and reviews.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problem from Abdullah's story has a matching feature in Rifqa.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two external services are the OpenAI-compatible chat API for matching and Gmail SMTP for email. The AI only receives lifestyle fields.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Out of 73 endpoints, these 15 carry the business logic. They follow a user from getting matched to reviewing their roommate.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Suggest and confirm are split on purpose: the AI proposes, the user decides.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AI output is never trusted blindly: the score is clamped and the suggested ID must be one of the candidates sent.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Search is built around what users care about: city and budget.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renter ID in the path is checked against the listing owner, so one renter can't answer requests for another renter's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status flow DRAFT, ACTIVE, TERMINATED controls what can be edited and when reviews open.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Reviews can only come from real roommates, which makes the rating meaningful. Reports are handled by admins.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0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2700000">
            <a:off x="749808" y="1261872"/>
            <a:ext cx="118872" cy="118872"/>
          </a:xfrm>
          <a:prstGeom prst="rect">
            <a:avLst/>
          </a:prstGeom>
          <a:solidFill>
            <a:srgbClr val="EDB897"/>
          </a:solidFill>
          <a:ln w="12700">
            <a:solidFill>
              <a:srgbClr val="EDB89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24128" y="11887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DB8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 ·  CAPSTONE 2 PROJECT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600200"/>
            <a:ext cx="3474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800" b="1" dirty="0">
                <a:solidFill>
                  <a:srgbClr val="F3ECE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Rifqa</a:t>
            </a:r>
            <a:endParaRPr lang="en-US" sz="8800" dirty="0"/>
          </a:p>
        </p:txBody>
      </p:sp>
      <p:sp>
        <p:nvSpPr>
          <p:cNvPr id="5" name="Text 3"/>
          <p:cNvSpPr txBox="1"/>
          <p:nvPr/>
        </p:nvSpPr>
        <p:spPr>
          <a:xfrm>
            <a:off x="4160520" y="182880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rtl="1" algn="l" indent="0" marL="0">
              <a:buNone/>
            </a:pPr>
            <a:r>
              <a:rPr lang="ar-SA" altLang="en-US" sz="5000" b="1" dirty="0">
                <a:solidFill>
                  <a:srgbClr val="EDB8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رفقة</a:t>
            </a:r>
            <a:endParaRPr lang="ar-SA" sz="5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06324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3ECE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a roommate who fits your life.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65760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AI-powered roommate matching REST API built with Spring Boot and MySQL.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846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3EC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Turki Alghamdi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52303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Instructor: Majd Alzahrani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275320" y="1234440"/>
            <a:ext cx="402336" cy="347472"/>
          </a:xfrm>
          <a:prstGeom prst="triangle">
            <a:avLst/>
          </a:prstGeom>
          <a:solidFill>
            <a:srgbClr val="B4532A"/>
          </a:solidFill>
          <a:ln w="12700">
            <a:solidFill>
              <a:srgbClr val="B4532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87384" y="1234440"/>
            <a:ext cx="402336" cy="347472"/>
          </a:xfrm>
          <a:prstGeom prst="triangle">
            <a:avLst/>
          </a:prstGeom>
          <a:solidFill>
            <a:srgbClr val="EDB897">
              <a:alpha val="65000"/>
            </a:srgbClr>
          </a:solidFill>
          <a:ln w="12700">
            <a:solidFill>
              <a:srgbClr val="EDB897">
                <a:alpha val="6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299448" y="1234440"/>
            <a:ext cx="402336" cy="347472"/>
          </a:xfrm>
          <a:prstGeom prst="triangle">
            <a:avLst/>
          </a:prstGeom>
          <a:solidFill>
            <a:srgbClr val="EDB897"/>
          </a:solidFill>
          <a:ln w="12700">
            <a:solidFill>
              <a:srgbClr val="EDB89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811512" y="1234440"/>
            <a:ext cx="402336" cy="347472"/>
          </a:xfrm>
          <a:prstGeom prst="triangle">
            <a:avLst/>
          </a:prstGeom>
          <a:solidFill>
            <a:srgbClr val="B4532A">
              <a:alpha val="65000"/>
            </a:srgbClr>
          </a:solidFill>
          <a:ln w="12700">
            <a:solidFill>
              <a:srgbClr val="B4532A">
                <a:alpha val="6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323576" y="1234440"/>
            <a:ext cx="402336" cy="347472"/>
          </a:xfrm>
          <a:prstGeom prst="triangle">
            <a:avLst/>
          </a:prstGeom>
          <a:solidFill>
            <a:srgbClr val="EDB897"/>
          </a:solidFill>
          <a:ln w="12700">
            <a:solidFill>
              <a:srgbClr val="EDB89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835640" y="1234440"/>
            <a:ext cx="402336" cy="347472"/>
          </a:xfrm>
          <a:prstGeom prst="triangle">
            <a:avLst/>
          </a:prstGeom>
          <a:solidFill>
            <a:srgbClr val="EDB897">
              <a:alpha val="65000"/>
            </a:srgbClr>
          </a:solidFill>
          <a:ln w="12700">
            <a:solidFill>
              <a:srgbClr val="EDB897">
                <a:alpha val="6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5320" y="1691640"/>
            <a:ext cx="402336" cy="347472"/>
          </a:xfrm>
          <a:prstGeom prst="triangle">
            <a:avLst/>
          </a:prstGeom>
          <a:solidFill>
            <a:srgbClr val="EDB897">
              <a:alpha val="65000"/>
            </a:srgbClr>
          </a:solidFill>
          <a:ln w="12700">
            <a:solidFill>
              <a:srgbClr val="EDB897">
                <a:alpha val="6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787384" y="1691640"/>
            <a:ext cx="402336" cy="347472"/>
          </a:xfrm>
          <a:prstGeom prst="triangle">
            <a:avLst/>
          </a:prstGeom>
          <a:solidFill>
            <a:srgbClr val="EDB897"/>
          </a:solidFill>
          <a:ln w="12700">
            <a:solidFill>
              <a:srgbClr val="EDB89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299448" y="1691640"/>
            <a:ext cx="402336" cy="347472"/>
          </a:xfrm>
          <a:prstGeom prst="triangle">
            <a:avLst/>
          </a:prstGeom>
          <a:solidFill>
            <a:srgbClr val="B4532A">
              <a:alpha val="65000"/>
            </a:srgbClr>
          </a:solidFill>
          <a:ln w="12700">
            <a:solidFill>
              <a:srgbClr val="B4532A">
                <a:alpha val="6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811512" y="1691640"/>
            <a:ext cx="402336" cy="347472"/>
          </a:xfrm>
          <a:prstGeom prst="triangle">
            <a:avLst/>
          </a:prstGeom>
          <a:solidFill>
            <a:srgbClr val="EDB897"/>
          </a:solidFill>
          <a:ln w="12700">
            <a:solidFill>
              <a:srgbClr val="EDB89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323576" y="1691640"/>
            <a:ext cx="402336" cy="347472"/>
          </a:xfrm>
          <a:prstGeom prst="triangle">
            <a:avLst/>
          </a:prstGeom>
          <a:solidFill>
            <a:srgbClr val="EDB897">
              <a:alpha val="65000"/>
            </a:srgbClr>
          </a:solidFill>
          <a:ln w="12700">
            <a:solidFill>
              <a:srgbClr val="EDB897">
                <a:alpha val="6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835640" y="1691640"/>
            <a:ext cx="402336" cy="347472"/>
          </a:xfrm>
          <a:prstGeom prst="triangle">
            <a:avLst/>
          </a:prstGeom>
          <a:solidFill>
            <a:srgbClr val="B4532A"/>
          </a:solidFill>
          <a:ln w="12700">
            <a:solidFill>
              <a:srgbClr val="B4532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75320" y="2148840"/>
            <a:ext cx="402336" cy="347472"/>
          </a:xfrm>
          <a:prstGeom prst="triangle">
            <a:avLst/>
          </a:prstGeom>
          <a:solidFill>
            <a:srgbClr val="EDB897"/>
          </a:solidFill>
          <a:ln w="12700">
            <a:solidFill>
              <a:srgbClr val="EDB89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787384" y="2148840"/>
            <a:ext cx="402336" cy="347472"/>
          </a:xfrm>
          <a:prstGeom prst="triangle">
            <a:avLst/>
          </a:prstGeom>
          <a:solidFill>
            <a:srgbClr val="B4532A">
              <a:alpha val="65000"/>
            </a:srgbClr>
          </a:solidFill>
          <a:ln w="12700">
            <a:solidFill>
              <a:srgbClr val="B4532A">
                <a:alpha val="6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299448" y="2148840"/>
            <a:ext cx="402336" cy="347472"/>
          </a:xfrm>
          <a:prstGeom prst="triangle">
            <a:avLst/>
          </a:prstGeom>
          <a:solidFill>
            <a:srgbClr val="EDB897"/>
          </a:solidFill>
          <a:ln w="12700">
            <a:solidFill>
              <a:srgbClr val="EDB89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811512" y="2148840"/>
            <a:ext cx="402336" cy="347472"/>
          </a:xfrm>
          <a:prstGeom prst="triangle">
            <a:avLst/>
          </a:prstGeom>
          <a:solidFill>
            <a:srgbClr val="EDB897">
              <a:alpha val="65000"/>
            </a:srgbClr>
          </a:solidFill>
          <a:ln w="12700">
            <a:solidFill>
              <a:srgbClr val="EDB897">
                <a:alpha val="6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323576" y="2148840"/>
            <a:ext cx="402336" cy="347472"/>
          </a:xfrm>
          <a:prstGeom prst="triangle">
            <a:avLst/>
          </a:prstGeom>
          <a:solidFill>
            <a:srgbClr val="B4532A"/>
          </a:solidFill>
          <a:ln w="12700">
            <a:solidFill>
              <a:srgbClr val="B4532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835640" y="2148840"/>
            <a:ext cx="402336" cy="347472"/>
          </a:xfrm>
          <a:prstGeom prst="triangle">
            <a:avLst/>
          </a:prstGeom>
          <a:solidFill>
            <a:srgbClr val="EDB897">
              <a:alpha val="65000"/>
            </a:srgbClr>
          </a:solidFill>
          <a:ln w="12700">
            <a:solidFill>
              <a:srgbClr val="EDB897">
                <a:alpha val="6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275320" y="2606040"/>
            <a:ext cx="402336" cy="347472"/>
          </a:xfrm>
          <a:prstGeom prst="triangle">
            <a:avLst/>
          </a:prstGeom>
          <a:solidFill>
            <a:srgbClr val="B4532A">
              <a:alpha val="65000"/>
            </a:srgbClr>
          </a:solidFill>
          <a:ln w="12700">
            <a:solidFill>
              <a:srgbClr val="B4532A">
                <a:alpha val="6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787384" y="2606040"/>
            <a:ext cx="402336" cy="347472"/>
          </a:xfrm>
          <a:prstGeom prst="triangle">
            <a:avLst/>
          </a:prstGeom>
          <a:solidFill>
            <a:srgbClr val="EDB897"/>
          </a:solidFill>
          <a:ln w="12700">
            <a:solidFill>
              <a:srgbClr val="EDB89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299448" y="2606040"/>
            <a:ext cx="402336" cy="347472"/>
          </a:xfrm>
          <a:prstGeom prst="triangle">
            <a:avLst/>
          </a:prstGeom>
          <a:solidFill>
            <a:srgbClr val="EDB897">
              <a:alpha val="65000"/>
            </a:srgbClr>
          </a:solidFill>
          <a:ln w="12700">
            <a:solidFill>
              <a:srgbClr val="EDB897">
                <a:alpha val="6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811512" y="2606040"/>
            <a:ext cx="402336" cy="347472"/>
          </a:xfrm>
          <a:prstGeom prst="triangle">
            <a:avLst/>
          </a:prstGeom>
          <a:solidFill>
            <a:srgbClr val="B4532A"/>
          </a:solidFill>
          <a:ln w="12700">
            <a:solidFill>
              <a:srgbClr val="B4532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323576" y="2606040"/>
            <a:ext cx="402336" cy="347472"/>
          </a:xfrm>
          <a:prstGeom prst="triangle">
            <a:avLst/>
          </a:prstGeom>
          <a:solidFill>
            <a:srgbClr val="EDB897">
              <a:alpha val="65000"/>
            </a:srgbClr>
          </a:solidFill>
          <a:ln w="12700">
            <a:solidFill>
              <a:srgbClr val="EDB897">
                <a:alpha val="6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835640" y="2606040"/>
            <a:ext cx="402336" cy="347472"/>
          </a:xfrm>
          <a:prstGeom prst="triangle">
            <a:avLst/>
          </a:prstGeom>
          <a:solidFill>
            <a:srgbClr val="EDB897"/>
          </a:solidFill>
          <a:ln w="12700">
            <a:solidFill>
              <a:srgbClr val="EDB89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75320" y="3063240"/>
            <a:ext cx="402336" cy="347472"/>
          </a:xfrm>
          <a:prstGeom prst="triangle">
            <a:avLst/>
          </a:prstGeom>
          <a:solidFill>
            <a:srgbClr val="EDB897"/>
          </a:solidFill>
          <a:ln w="12700">
            <a:solidFill>
              <a:srgbClr val="EDB897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787384" y="3063240"/>
            <a:ext cx="402336" cy="347472"/>
          </a:xfrm>
          <a:prstGeom prst="triangle">
            <a:avLst/>
          </a:prstGeom>
          <a:solidFill>
            <a:srgbClr val="EDB897">
              <a:alpha val="65000"/>
            </a:srgbClr>
          </a:solidFill>
          <a:ln w="12700">
            <a:solidFill>
              <a:srgbClr val="EDB897">
                <a:alpha val="6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299448" y="3063240"/>
            <a:ext cx="402336" cy="347472"/>
          </a:xfrm>
          <a:prstGeom prst="triangle">
            <a:avLst/>
          </a:prstGeom>
          <a:solidFill>
            <a:srgbClr val="B4532A"/>
          </a:solidFill>
          <a:ln w="12700">
            <a:solidFill>
              <a:srgbClr val="B4532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811512" y="3063240"/>
            <a:ext cx="402336" cy="347472"/>
          </a:xfrm>
          <a:prstGeom prst="triangle">
            <a:avLst/>
          </a:prstGeom>
          <a:solidFill>
            <a:srgbClr val="EDB897">
              <a:alpha val="65000"/>
            </a:srgbClr>
          </a:solidFill>
          <a:ln w="12700">
            <a:solidFill>
              <a:srgbClr val="EDB897">
                <a:alpha val="6500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323576" y="3063240"/>
            <a:ext cx="402336" cy="347472"/>
          </a:xfrm>
          <a:prstGeom prst="triangle">
            <a:avLst/>
          </a:prstGeom>
          <a:solidFill>
            <a:srgbClr val="EDB897"/>
          </a:solidFill>
          <a:ln w="12700">
            <a:solidFill>
              <a:srgbClr val="EDB89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0835640" y="3063240"/>
            <a:ext cx="402336" cy="347472"/>
          </a:xfrm>
          <a:prstGeom prst="triangle">
            <a:avLst/>
          </a:prstGeom>
          <a:solidFill>
            <a:srgbClr val="B4532A">
              <a:alpha val="65000"/>
            </a:srgbClr>
          </a:solidFill>
          <a:ln w="12700">
            <a:solidFill>
              <a:srgbClr val="B4532A">
                <a:alpha val="6500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275320" y="3520440"/>
            <a:ext cx="402336" cy="347472"/>
          </a:xfrm>
          <a:prstGeom prst="triangle">
            <a:avLst/>
          </a:prstGeom>
          <a:solidFill>
            <a:srgbClr val="EDB897">
              <a:alpha val="65000"/>
            </a:srgbClr>
          </a:solidFill>
          <a:ln w="12700">
            <a:solidFill>
              <a:srgbClr val="EDB897">
                <a:alpha val="6500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787384" y="3520440"/>
            <a:ext cx="402336" cy="347472"/>
          </a:xfrm>
          <a:prstGeom prst="triangle">
            <a:avLst/>
          </a:prstGeom>
          <a:solidFill>
            <a:srgbClr val="B4532A"/>
          </a:solidFill>
          <a:ln w="12700">
            <a:solidFill>
              <a:srgbClr val="B4532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299448" y="3520440"/>
            <a:ext cx="402336" cy="347472"/>
          </a:xfrm>
          <a:prstGeom prst="triangle">
            <a:avLst/>
          </a:prstGeom>
          <a:solidFill>
            <a:srgbClr val="EDB897">
              <a:alpha val="65000"/>
            </a:srgbClr>
          </a:solidFill>
          <a:ln w="12700">
            <a:solidFill>
              <a:srgbClr val="EDB897">
                <a:alpha val="6500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811512" y="3520440"/>
            <a:ext cx="402336" cy="347472"/>
          </a:xfrm>
          <a:prstGeom prst="triangle">
            <a:avLst/>
          </a:prstGeom>
          <a:solidFill>
            <a:srgbClr val="EDB897"/>
          </a:solidFill>
          <a:ln w="12700">
            <a:solidFill>
              <a:srgbClr val="EDB897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0323576" y="3520440"/>
            <a:ext cx="402336" cy="347472"/>
          </a:xfrm>
          <a:prstGeom prst="triangle">
            <a:avLst/>
          </a:prstGeom>
          <a:solidFill>
            <a:srgbClr val="B4532A">
              <a:alpha val="65000"/>
            </a:srgbClr>
          </a:solidFill>
          <a:ln w="12700">
            <a:solidFill>
              <a:srgbClr val="B4532A">
                <a:alpha val="6500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835640" y="3520440"/>
            <a:ext cx="402336" cy="347472"/>
          </a:xfrm>
          <a:prstGeom prst="triangle">
            <a:avLst/>
          </a:prstGeom>
          <a:solidFill>
            <a:srgbClr val="EDB897"/>
          </a:solidFill>
          <a:ln w="12700">
            <a:solidFill>
              <a:srgbClr val="EDB89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275320" y="3977640"/>
            <a:ext cx="402336" cy="347472"/>
          </a:xfrm>
          <a:prstGeom prst="triangle">
            <a:avLst/>
          </a:prstGeom>
          <a:solidFill>
            <a:srgbClr val="B4532A"/>
          </a:solidFill>
          <a:ln w="12700">
            <a:solidFill>
              <a:srgbClr val="B4532A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787384" y="3977640"/>
            <a:ext cx="402336" cy="347472"/>
          </a:xfrm>
          <a:prstGeom prst="triangle">
            <a:avLst/>
          </a:prstGeom>
          <a:solidFill>
            <a:srgbClr val="EDB897">
              <a:alpha val="65000"/>
            </a:srgbClr>
          </a:solidFill>
          <a:ln w="12700">
            <a:solidFill>
              <a:srgbClr val="EDB897">
                <a:alpha val="6500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9299448" y="3977640"/>
            <a:ext cx="402336" cy="347472"/>
          </a:xfrm>
          <a:prstGeom prst="triangle">
            <a:avLst/>
          </a:prstGeom>
          <a:solidFill>
            <a:srgbClr val="EDB897"/>
          </a:solidFill>
          <a:ln w="12700">
            <a:solidFill>
              <a:srgbClr val="EDB897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811512" y="3977640"/>
            <a:ext cx="402336" cy="347472"/>
          </a:xfrm>
          <a:prstGeom prst="triangle">
            <a:avLst/>
          </a:prstGeom>
          <a:solidFill>
            <a:srgbClr val="B4532A">
              <a:alpha val="65000"/>
            </a:srgbClr>
          </a:solidFill>
          <a:ln w="12700">
            <a:solidFill>
              <a:srgbClr val="B4532A">
                <a:alpha val="6500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0323576" y="3977640"/>
            <a:ext cx="402336" cy="347472"/>
          </a:xfrm>
          <a:prstGeom prst="triangle">
            <a:avLst/>
          </a:prstGeom>
          <a:solidFill>
            <a:srgbClr val="EDB897"/>
          </a:solidFill>
          <a:ln w="12700">
            <a:solidFill>
              <a:srgbClr val="EDB897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0835640" y="3977640"/>
            <a:ext cx="402336" cy="347472"/>
          </a:xfrm>
          <a:prstGeom prst="triangle">
            <a:avLst/>
          </a:prstGeom>
          <a:solidFill>
            <a:srgbClr val="EDB897">
              <a:alpha val="65000"/>
            </a:srgbClr>
          </a:solidFill>
          <a:ln w="12700">
            <a:solidFill>
              <a:srgbClr val="EDB897">
                <a:alpha val="65000"/>
              </a:srgbClr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257032" y="63550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C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2700000">
            <a:off x="749808" y="576072"/>
            <a:ext cx="118872" cy="118872"/>
          </a:xfrm>
          <a:prstGeom prst="rect">
            <a:avLst/>
          </a:prstGeom>
          <a:solidFill>
            <a:srgbClr val="B4532A"/>
          </a:solidFill>
          <a:ln w="12700">
            <a:solidFill>
              <a:srgbClr val="B4532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24128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4A5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30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 a roommate is still a gamble.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53619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4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and young professionals moving to a new city often share a home with someone they barely know.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3361944" cy="3749040"/>
          </a:xfrm>
          <a:prstGeom prst="roundRect">
            <a:avLst>
              <a:gd name="adj" fmla="val 3264"/>
            </a:avLst>
          </a:prstGeom>
          <a:solidFill>
            <a:srgbClr val="FFFFFF"/>
          </a:solidFill>
          <a:ln w="9525">
            <a:solidFill>
              <a:srgbClr val="D9CFC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097280" y="2743200"/>
            <a:ext cx="731520" cy="731520"/>
          </a:xfrm>
          <a:prstGeom prst="ellipse">
            <a:avLst/>
          </a:prstGeom>
          <a:solidFill>
            <a:srgbClr val="16302C"/>
          </a:solidFill>
          <a:ln w="12700">
            <a:solidFill>
              <a:srgbClr val="16302C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7475" y="2933395"/>
            <a:ext cx="351130" cy="35113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097280" y="3703320"/>
            <a:ext cx="26304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630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Matches by luck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1097280" y="4572000"/>
            <a:ext cx="26304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Roommates come from group chats and word of mouth. Nobody compares sleep schedules, cleanliness or budgets first.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413504" y="2331720"/>
            <a:ext cx="3361944" cy="3749040"/>
          </a:xfrm>
          <a:prstGeom prst="roundRect">
            <a:avLst>
              <a:gd name="adj" fmla="val 3264"/>
            </a:avLst>
          </a:prstGeom>
          <a:solidFill>
            <a:srgbClr val="FFFFFF"/>
          </a:solidFill>
          <a:ln w="9525">
            <a:solidFill>
              <a:srgbClr val="D9CFC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79264" y="2743200"/>
            <a:ext cx="731520" cy="731520"/>
          </a:xfrm>
          <a:prstGeom prst="ellipse">
            <a:avLst/>
          </a:prstGeom>
          <a:solidFill>
            <a:srgbClr val="16302C"/>
          </a:solidFill>
          <a:ln w="12700">
            <a:solidFill>
              <a:srgbClr val="16302C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9459" y="2933395"/>
            <a:ext cx="351130" cy="35113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779264" y="3703320"/>
            <a:ext cx="26304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630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Rules nobody wrote down</a:t>
            </a:r>
            <a:endParaRPr lang="en-US" sz="2200" dirty="0"/>
          </a:p>
        </p:txBody>
      </p:sp>
      <p:sp>
        <p:nvSpPr>
          <p:cNvPr id="15" name="Text 11"/>
          <p:cNvSpPr txBox="1"/>
          <p:nvPr/>
        </p:nvSpPr>
        <p:spPr>
          <a:xfrm>
            <a:off x="4779264" y="4572000"/>
            <a:ext cx="26304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Rent, guests and cleaning are agreed verbally, so every disagreement becomes one word against another.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8095488" y="2331720"/>
            <a:ext cx="3361944" cy="3749040"/>
          </a:xfrm>
          <a:prstGeom prst="roundRect">
            <a:avLst>
              <a:gd name="adj" fmla="val 3264"/>
            </a:avLst>
          </a:prstGeom>
          <a:solidFill>
            <a:srgbClr val="FFFFFF"/>
          </a:solidFill>
          <a:ln w="9525">
            <a:solidFill>
              <a:srgbClr val="D9CFC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461248" y="2743200"/>
            <a:ext cx="731520" cy="731520"/>
          </a:xfrm>
          <a:prstGeom prst="ellipse">
            <a:avLst/>
          </a:prstGeom>
          <a:solidFill>
            <a:srgbClr val="16302C"/>
          </a:solidFill>
          <a:ln w="12700">
            <a:solidFill>
              <a:srgbClr val="16302C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1443" y="2933395"/>
            <a:ext cx="351130" cy="35113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461248" y="3703320"/>
            <a:ext cx="26304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630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way to know who to trust</a:t>
            </a:r>
            <a:endParaRPr lang="en-US" sz="2200" dirty="0"/>
          </a:p>
        </p:txBody>
      </p:sp>
      <p:sp>
        <p:nvSpPr>
          <p:cNvPr id="20" name="Text 15"/>
          <p:cNvSpPr txBox="1"/>
          <p:nvPr/>
        </p:nvSpPr>
        <p:spPr>
          <a:xfrm>
            <a:off x="8461248" y="4572000"/>
            <a:ext cx="26304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verification, no history of past roommates and nowhere to report bad behavior.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731520" y="63550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Rifqa  ·  Spring Boot Capstone 2</a:t>
            </a:r>
            <a:endParaRPr lang="en-US" sz="1000" dirty="0"/>
          </a:p>
        </p:txBody>
      </p:sp>
      <p:sp>
        <p:nvSpPr>
          <p:cNvPr id="22" name="Text 17"/>
          <p:cNvSpPr txBox="1"/>
          <p:nvPr/>
        </p:nvSpPr>
        <p:spPr>
          <a:xfrm>
            <a:off x="10085832" y="6355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13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C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2700000">
            <a:off x="749808" y="576072"/>
            <a:ext cx="118872" cy="118872"/>
          </a:xfrm>
          <a:prstGeom prst="rect">
            <a:avLst/>
          </a:prstGeom>
          <a:solidFill>
            <a:srgbClr val="B4532A"/>
          </a:solidFill>
          <a:ln w="12700">
            <a:solidFill>
              <a:srgbClr val="B4532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24128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4A5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EXAMPLE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30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Meet Abdullah.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53619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4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made-up story, but a familiar one.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2148840"/>
            <a:ext cx="3383280" cy="3931920"/>
          </a:xfrm>
          <a:prstGeom prst="roundRect">
            <a:avLst>
              <a:gd name="adj" fmla="val 3784"/>
            </a:avLst>
          </a:prstGeom>
          <a:solidFill>
            <a:srgbClr val="16302C"/>
          </a:solidFill>
          <a:ln w="12700">
            <a:solidFill>
              <a:srgbClr val="16302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2514600"/>
            <a:ext cx="777240" cy="777240"/>
          </a:xfrm>
          <a:prstGeom prst="ellipse">
            <a:avLst/>
          </a:prstGeom>
          <a:solidFill>
            <a:srgbClr val="21443F"/>
          </a:solidFill>
          <a:ln w="12700">
            <a:solidFill>
              <a:srgbClr val="21443F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9362" y="2716682"/>
            <a:ext cx="373075" cy="37307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097280" y="34747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3ECE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Abdullah, 24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1097280" y="39319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engineer, just moved to Riyadh for a new job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 rot="2700000">
            <a:off x="1143000" y="4754880"/>
            <a:ext cx="91440" cy="91440"/>
          </a:xfrm>
          <a:prstGeom prst="rect">
            <a:avLst/>
          </a:prstGeom>
          <a:solidFill>
            <a:srgbClr val="EDB897"/>
          </a:solidFill>
          <a:ln w="12700">
            <a:solidFill>
              <a:srgbClr val="EDB89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371600" y="4663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EC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bird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 rot="2700000">
            <a:off x="1143000" y="5084064"/>
            <a:ext cx="91440" cy="91440"/>
          </a:xfrm>
          <a:prstGeom prst="rect">
            <a:avLst/>
          </a:prstGeom>
          <a:solidFill>
            <a:srgbClr val="EDB897"/>
          </a:solidFill>
          <a:ln w="12700">
            <a:solidFill>
              <a:srgbClr val="EDB89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371600" y="49926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EC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Tidy, 4 out of 5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 rot="2700000">
            <a:off x="1143000" y="5413248"/>
            <a:ext cx="91440" cy="91440"/>
          </a:xfrm>
          <a:prstGeom prst="rect">
            <a:avLst/>
          </a:prstGeom>
          <a:solidFill>
            <a:srgbClr val="EDB897"/>
          </a:solidFill>
          <a:ln w="12700">
            <a:solidFill>
              <a:srgbClr val="EDB89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371600" y="53218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EC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Non-smoker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 rot="2700000">
            <a:off x="1143000" y="5742432"/>
            <a:ext cx="91440" cy="91440"/>
          </a:xfrm>
          <a:prstGeom prst="rect">
            <a:avLst/>
          </a:prstGeom>
          <a:solidFill>
            <a:srgbClr val="EDB897"/>
          </a:solidFill>
          <a:ln w="12700">
            <a:solidFill>
              <a:srgbClr val="EDB89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371600" y="56509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EC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2,500 SAR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4800600" y="2468880"/>
            <a:ext cx="0" cy="3017520"/>
          </a:xfrm>
          <a:prstGeom prst="line">
            <a:avLst/>
          </a:prstGeom>
          <a:noFill/>
          <a:ln w="19050">
            <a:solidFill>
              <a:srgbClr val="D9CFC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572000" y="2148840"/>
            <a:ext cx="457200" cy="457200"/>
          </a:xfrm>
          <a:prstGeom prst="ellipse">
            <a:avLst/>
          </a:prstGeom>
          <a:solidFill>
            <a:srgbClr val="B4532A"/>
          </a:solidFill>
          <a:ln w="38100">
            <a:solidFill>
              <a:srgbClr val="F3ECE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57200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303520" y="2130552"/>
            <a:ext cx="6126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30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Finds a room in a group chat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5303520" y="2496312"/>
            <a:ext cx="612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4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takes the first listing in his budget, knowing nothing about who else lives there.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4572000" y="3154680"/>
            <a:ext cx="457200" cy="457200"/>
          </a:xfrm>
          <a:prstGeom prst="ellipse">
            <a:avLst/>
          </a:prstGeom>
          <a:solidFill>
            <a:srgbClr val="B4532A"/>
          </a:solidFill>
          <a:ln w="38100">
            <a:solidFill>
              <a:srgbClr val="F3ECE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572000" y="3154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5303520" y="3136392"/>
            <a:ext cx="6126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30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Moves in with a night owl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5303520" y="3502152"/>
            <a:ext cx="612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4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 roommate smokes indoors and hosts guests after midnight. Abdullah wakes up at 6.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4572000" y="4160520"/>
            <a:ext cx="457200" cy="457200"/>
          </a:xfrm>
          <a:prstGeom prst="ellipse">
            <a:avLst/>
          </a:prstGeom>
          <a:solidFill>
            <a:srgbClr val="B4532A"/>
          </a:solidFill>
          <a:ln w="38100">
            <a:solidFill>
              <a:srgbClr val="F3ECE1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572000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5303520" y="4142232"/>
            <a:ext cx="6126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30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Argues over rules no one wrote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5303520" y="4507992"/>
            <a:ext cx="612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4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rent split, guests and cleaning were only spoken agreements.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4572000" y="5166360"/>
            <a:ext cx="457200" cy="457200"/>
          </a:xfrm>
          <a:prstGeom prst="ellipse">
            <a:avLst/>
          </a:prstGeom>
          <a:solidFill>
            <a:srgbClr val="B4532A"/>
          </a:solidFill>
          <a:ln w="38100">
            <a:solidFill>
              <a:srgbClr val="F3ECE1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4572000" y="5166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5303520" y="5148072"/>
            <a:ext cx="6126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30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Leaves after two months</a:t>
            </a:r>
            <a:endParaRPr lang="en-US" sz="1800" dirty="0"/>
          </a:p>
        </p:txBody>
      </p:sp>
      <p:sp>
        <p:nvSpPr>
          <p:cNvPr id="35" name="Text 32"/>
          <p:cNvSpPr txBox="1"/>
          <p:nvPr/>
        </p:nvSpPr>
        <p:spPr>
          <a:xfrm>
            <a:off x="5303520" y="5513832"/>
            <a:ext cx="612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4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nothing warns the next person who moves in.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31520" y="63550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Rifqa  ·  Spring Boot Capstone 2</a:t>
            </a:r>
            <a:endParaRPr lang="en-US" sz="1000" dirty="0"/>
          </a:p>
        </p:txBody>
      </p:sp>
      <p:sp>
        <p:nvSpPr>
          <p:cNvPr id="37" name="Text 34"/>
          <p:cNvSpPr txBox="1"/>
          <p:nvPr/>
        </p:nvSpPr>
        <p:spPr>
          <a:xfrm>
            <a:off x="10085832" y="6355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C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2700000">
            <a:off x="749808" y="576072"/>
            <a:ext cx="118872" cy="118872"/>
          </a:xfrm>
          <a:prstGeom prst="rect">
            <a:avLst/>
          </a:prstGeom>
          <a:solidFill>
            <a:srgbClr val="B4532A"/>
          </a:solidFill>
          <a:ln w="12700">
            <a:solidFill>
              <a:srgbClr val="B4532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24128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4A5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30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Rifqa turns luck into a process.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16916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4A5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086600" y="16916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B45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RIFQA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2240280"/>
            <a:ext cx="548640" cy="548640"/>
          </a:xfrm>
          <a:prstGeom prst="ellipse">
            <a:avLst/>
          </a:prstGeom>
          <a:solidFill>
            <a:srgbClr val="16302C"/>
          </a:solidFill>
          <a:ln w="12700">
            <a:solidFill>
              <a:srgbClr val="16302C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4166" y="2382926"/>
            <a:ext cx="263347" cy="263347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63040" y="210312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30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Roommate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2743200" y="210312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4A5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stranger from a group chat</a:t>
            </a:r>
            <a:endParaRPr lang="en-US" sz="15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350008"/>
            <a:ext cx="329184" cy="329184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949440" y="2103120"/>
            <a:ext cx="4507992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9CFC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7178040" y="210312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3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match on lifestyle, in his city, with a score and the reasons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731520" y="3246120"/>
            <a:ext cx="548640" cy="548640"/>
          </a:xfrm>
          <a:prstGeom prst="ellipse">
            <a:avLst/>
          </a:prstGeom>
          <a:solidFill>
            <a:srgbClr val="16302C"/>
          </a:solidFill>
          <a:ln w="12700">
            <a:solidFill>
              <a:srgbClr val="16302C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166" y="3388766"/>
            <a:ext cx="263347" cy="26334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463040" y="310896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30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Room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2743200" y="310896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4A5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Scrolling posts and waiting on calls</a:t>
            </a:r>
            <a:endParaRPr lang="en-US" sz="150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3355848"/>
            <a:ext cx="329184" cy="329184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949440" y="3108960"/>
            <a:ext cx="4507992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9CFC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178040" y="310896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3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available rooms by city or budget, and get an email when accepted</a:t>
            </a:r>
            <a:endParaRPr lang="en-US" sz="1500" dirty="0"/>
          </a:p>
        </p:txBody>
      </p:sp>
      <p:sp>
        <p:nvSpPr>
          <p:cNvPr id="21" name="Shape 15"/>
          <p:cNvSpPr/>
          <p:nvPr/>
        </p:nvSpPr>
        <p:spPr>
          <a:xfrm>
            <a:off x="731520" y="4251960"/>
            <a:ext cx="548640" cy="548640"/>
          </a:xfrm>
          <a:prstGeom prst="ellipse">
            <a:avLst/>
          </a:prstGeom>
          <a:solidFill>
            <a:srgbClr val="16302C"/>
          </a:solidFill>
          <a:ln w="12700">
            <a:solidFill>
              <a:srgbClr val="16302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4166" y="4394606"/>
            <a:ext cx="263347" cy="263347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463040" y="411480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30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House rules</a:t>
            </a:r>
            <a:endParaRPr lang="en-US" sz="1800" dirty="0"/>
          </a:p>
        </p:txBody>
      </p:sp>
      <p:sp>
        <p:nvSpPr>
          <p:cNvPr id="24" name="Text 17"/>
          <p:cNvSpPr txBox="1"/>
          <p:nvPr/>
        </p:nvSpPr>
        <p:spPr>
          <a:xfrm>
            <a:off x="2743200" y="411480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4A5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Spoken promises</a:t>
            </a:r>
            <a:endParaRPr lang="en-US" sz="1500" dirty="0"/>
          </a:p>
        </p:txBody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80" y="4361688"/>
            <a:ext cx="329184" cy="329184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6949440" y="4114800"/>
            <a:ext cx="4507992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9CFC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7" name="Text 19"/>
          <p:cNvSpPr txBox="1"/>
          <p:nvPr/>
        </p:nvSpPr>
        <p:spPr>
          <a:xfrm>
            <a:off x="7178040" y="411480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3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written agreement whose rules lock once it becomes active</a:t>
            </a:r>
            <a:endParaRPr lang="en-US" sz="1500" dirty="0"/>
          </a:p>
        </p:txBody>
      </p:sp>
      <p:sp>
        <p:nvSpPr>
          <p:cNvPr id="28" name="Shape 20"/>
          <p:cNvSpPr/>
          <p:nvPr/>
        </p:nvSpPr>
        <p:spPr>
          <a:xfrm>
            <a:off x="731520" y="5257800"/>
            <a:ext cx="548640" cy="548640"/>
          </a:xfrm>
          <a:prstGeom prst="ellipse">
            <a:avLst/>
          </a:prstGeom>
          <a:solidFill>
            <a:srgbClr val="16302C"/>
          </a:solidFill>
          <a:ln w="12700">
            <a:solidFill>
              <a:srgbClr val="16302C"/>
            </a:solidFill>
            <a:prstDash val="solid"/>
          </a:ln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4166" y="5400446"/>
            <a:ext cx="263347" cy="263347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1463040" y="512064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30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Trust</a:t>
            </a:r>
            <a:endParaRPr lang="en-US" sz="1800" dirty="0"/>
          </a:p>
        </p:txBody>
      </p:sp>
      <p:sp>
        <p:nvSpPr>
          <p:cNvPr id="31" name="Text 22"/>
          <p:cNvSpPr txBox="1"/>
          <p:nvPr/>
        </p:nvSpPr>
        <p:spPr>
          <a:xfrm>
            <a:off x="2743200" y="512064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4A5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go on</a:t>
            </a:r>
            <a:endParaRPr lang="en-US" sz="1500" dirty="0"/>
          </a:p>
        </p:txBody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55080" y="5367528"/>
            <a:ext cx="329184" cy="329184"/>
          </a:xfrm>
          <a:prstGeom prst="rect">
            <a:avLst/>
          </a:prstGeom>
        </p:spPr>
      </p:pic>
      <p:sp>
        <p:nvSpPr>
          <p:cNvPr id="33" name="Shape 23"/>
          <p:cNvSpPr/>
          <p:nvPr/>
        </p:nvSpPr>
        <p:spPr>
          <a:xfrm>
            <a:off x="6949440" y="5120640"/>
            <a:ext cx="4507992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9CFC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4" name="Text 24"/>
          <p:cNvSpPr txBox="1"/>
          <p:nvPr/>
        </p:nvSpPr>
        <p:spPr>
          <a:xfrm>
            <a:off x="7178040" y="512064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3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Admin-verified accounts, reviews after every agreement, and reports</a:t>
            </a:r>
            <a:endParaRPr lang="en-US" sz="1500" dirty="0"/>
          </a:p>
        </p:txBody>
      </p:sp>
      <p:sp>
        <p:nvSpPr>
          <p:cNvPr id="35" name="Text 25"/>
          <p:cNvSpPr txBox="1"/>
          <p:nvPr/>
        </p:nvSpPr>
        <p:spPr>
          <a:xfrm>
            <a:off x="731520" y="63550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Rifqa  ·  Spring Boot Capstone 2</a:t>
            </a:r>
            <a:endParaRPr lang="en-US" sz="1000" dirty="0"/>
          </a:p>
        </p:txBody>
      </p:sp>
      <p:sp>
        <p:nvSpPr>
          <p:cNvPr id="36" name="Text 26"/>
          <p:cNvSpPr txBox="1"/>
          <p:nvPr/>
        </p:nvSpPr>
        <p:spPr>
          <a:xfrm>
            <a:off x="10085832" y="6355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C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2700000">
            <a:off x="749808" y="576072"/>
            <a:ext cx="118872" cy="118872"/>
          </a:xfrm>
          <a:prstGeom prst="rect">
            <a:avLst/>
          </a:prstGeom>
          <a:solidFill>
            <a:srgbClr val="B4532A"/>
          </a:solidFill>
          <a:ln w="12700">
            <a:solidFill>
              <a:srgbClr val="B4532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24128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4A5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&amp; APIS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30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Rifqa is built with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731520" y="1920240"/>
            <a:ext cx="2475738" cy="4114800"/>
          </a:xfrm>
          <a:prstGeom prst="roundRect">
            <a:avLst>
              <a:gd name="adj" fmla="val 4432"/>
            </a:avLst>
          </a:prstGeom>
          <a:solidFill>
            <a:srgbClr val="FFFFFF"/>
          </a:solidFill>
          <a:ln w="9525">
            <a:solidFill>
              <a:srgbClr val="D9CFC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51560" y="2240280"/>
            <a:ext cx="640080" cy="640080"/>
          </a:xfrm>
          <a:prstGeom prst="ellipse">
            <a:avLst/>
          </a:prstGeom>
          <a:solidFill>
            <a:srgbClr val="16302C"/>
          </a:solidFill>
          <a:ln w="12700">
            <a:solidFill>
              <a:srgbClr val="16302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7981" y="2406701"/>
            <a:ext cx="307238" cy="30723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51560" y="3017520"/>
            <a:ext cx="18356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30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051560" y="3611880"/>
            <a:ext cx="18356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17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051560" y="3904488"/>
            <a:ext cx="18356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051560" y="4389120"/>
            <a:ext cx="18356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4.1.1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051560" y="4681728"/>
            <a:ext cx="18356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7 web layer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1051560" y="5166360"/>
            <a:ext cx="18356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Lombok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1051560" y="5458968"/>
            <a:ext cx="18356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boilerplate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3481578" y="1920240"/>
            <a:ext cx="2475738" cy="4114800"/>
          </a:xfrm>
          <a:prstGeom prst="roundRect">
            <a:avLst>
              <a:gd name="adj" fmla="val 4432"/>
            </a:avLst>
          </a:prstGeom>
          <a:solidFill>
            <a:srgbClr val="FFFFFF"/>
          </a:solidFill>
          <a:ln w="9525">
            <a:solidFill>
              <a:srgbClr val="D9CFC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801618" y="2240280"/>
            <a:ext cx="640080" cy="640080"/>
          </a:xfrm>
          <a:prstGeom prst="ellipse">
            <a:avLst/>
          </a:prstGeom>
          <a:solidFill>
            <a:srgbClr val="16302C"/>
          </a:solidFill>
          <a:ln w="12700">
            <a:solidFill>
              <a:srgbClr val="16302C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8039" y="2406701"/>
            <a:ext cx="307238" cy="30723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3801618" y="3017520"/>
            <a:ext cx="18356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30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</a:t>
            </a:r>
            <a:endParaRPr lang="en-US" sz="2000" dirty="0"/>
          </a:p>
        </p:txBody>
      </p:sp>
      <p:sp>
        <p:nvSpPr>
          <p:cNvPr id="19" name="Text 15"/>
          <p:cNvSpPr txBox="1"/>
          <p:nvPr/>
        </p:nvSpPr>
        <p:spPr>
          <a:xfrm>
            <a:off x="3801618" y="3611880"/>
            <a:ext cx="18356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3801618" y="3904488"/>
            <a:ext cx="18356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database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3801618" y="4389120"/>
            <a:ext cx="18356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Data JPA</a:t>
            </a:r>
            <a:endParaRPr lang="en-US" sz="1600" dirty="0"/>
          </a:p>
        </p:txBody>
      </p:sp>
      <p:sp>
        <p:nvSpPr>
          <p:cNvPr id="22" name="Text 18"/>
          <p:cNvSpPr txBox="1"/>
          <p:nvPr/>
        </p:nvSpPr>
        <p:spPr>
          <a:xfrm>
            <a:off x="3801618" y="4681728"/>
            <a:ext cx="18356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Hibernate 7</a:t>
            </a:r>
            <a:endParaRPr lang="en-US" sz="1300" dirty="0"/>
          </a:p>
        </p:txBody>
      </p:sp>
      <p:sp>
        <p:nvSpPr>
          <p:cNvPr id="23" name="Text 19"/>
          <p:cNvSpPr txBox="1"/>
          <p:nvPr/>
        </p:nvSpPr>
        <p:spPr>
          <a:xfrm>
            <a:off x="3801618" y="5166360"/>
            <a:ext cx="18356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Jakarta Validation</a:t>
            </a:r>
            <a:endParaRPr lang="en-US" sz="1600" dirty="0"/>
          </a:p>
        </p:txBody>
      </p:sp>
      <p:sp>
        <p:nvSpPr>
          <p:cNvPr id="24" name="Text 20"/>
          <p:cNvSpPr txBox="1"/>
          <p:nvPr/>
        </p:nvSpPr>
        <p:spPr>
          <a:xfrm>
            <a:off x="3801618" y="5458968"/>
            <a:ext cx="18356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on every field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6231636" y="1920240"/>
            <a:ext cx="2475738" cy="4114800"/>
          </a:xfrm>
          <a:prstGeom prst="roundRect">
            <a:avLst>
              <a:gd name="adj" fmla="val 4432"/>
            </a:avLst>
          </a:prstGeom>
          <a:solidFill>
            <a:srgbClr val="16302C"/>
          </a:solidFill>
          <a:ln w="9525">
            <a:solidFill>
              <a:srgbClr val="16302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6551676" y="2240280"/>
            <a:ext cx="640080" cy="640080"/>
          </a:xfrm>
          <a:prstGeom prst="ellipse">
            <a:avLst/>
          </a:prstGeom>
          <a:solidFill>
            <a:srgbClr val="EDB897"/>
          </a:solidFill>
          <a:ln w="12700">
            <a:solidFill>
              <a:srgbClr val="EDB897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8097" y="2406701"/>
            <a:ext cx="307238" cy="307238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6551676" y="3017520"/>
            <a:ext cx="18356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ECE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External APIs</a:t>
            </a:r>
            <a:endParaRPr lang="en-US" sz="2000" dirty="0"/>
          </a:p>
        </p:txBody>
      </p:sp>
      <p:sp>
        <p:nvSpPr>
          <p:cNvPr id="29" name="Text 24"/>
          <p:cNvSpPr txBox="1"/>
          <p:nvPr/>
        </p:nvSpPr>
        <p:spPr>
          <a:xfrm>
            <a:off x="6551676" y="3611880"/>
            <a:ext cx="18356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3EC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Chat API</a:t>
            </a:r>
            <a:endParaRPr lang="en-US" sz="1600" dirty="0"/>
          </a:p>
        </p:txBody>
      </p:sp>
      <p:sp>
        <p:nvSpPr>
          <p:cNvPr id="30" name="Text 25"/>
          <p:cNvSpPr txBox="1"/>
          <p:nvPr/>
        </p:nvSpPr>
        <p:spPr>
          <a:xfrm>
            <a:off x="6551676" y="3904488"/>
            <a:ext cx="18356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gpt-4o-mini for AI matching</a:t>
            </a:r>
            <a:endParaRPr lang="en-US" sz="1300" dirty="0"/>
          </a:p>
        </p:txBody>
      </p:sp>
      <p:sp>
        <p:nvSpPr>
          <p:cNvPr id="31" name="Text 26"/>
          <p:cNvSpPr txBox="1"/>
          <p:nvPr/>
        </p:nvSpPr>
        <p:spPr>
          <a:xfrm>
            <a:off x="6551676" y="4389120"/>
            <a:ext cx="18356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3EC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Mail</a:t>
            </a:r>
            <a:endParaRPr lang="en-US" sz="1600" dirty="0"/>
          </a:p>
        </p:txBody>
      </p:sp>
      <p:sp>
        <p:nvSpPr>
          <p:cNvPr id="32" name="Text 27"/>
          <p:cNvSpPr txBox="1"/>
          <p:nvPr/>
        </p:nvSpPr>
        <p:spPr>
          <a:xfrm>
            <a:off x="6551676" y="4681728"/>
            <a:ext cx="18356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Gmail SMTP notifications</a:t>
            </a:r>
            <a:endParaRPr lang="en-US" sz="1300" dirty="0"/>
          </a:p>
        </p:txBody>
      </p:sp>
      <p:sp>
        <p:nvSpPr>
          <p:cNvPr id="33" name="Text 28"/>
          <p:cNvSpPr txBox="1"/>
          <p:nvPr/>
        </p:nvSpPr>
        <p:spPr>
          <a:xfrm>
            <a:off x="6551676" y="5166360"/>
            <a:ext cx="18356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3EC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Jackson 3</a:t>
            </a:r>
            <a:endParaRPr lang="en-US" sz="1600" dirty="0"/>
          </a:p>
        </p:txBody>
      </p:sp>
      <p:sp>
        <p:nvSpPr>
          <p:cNvPr id="34" name="Text 29"/>
          <p:cNvSpPr txBox="1"/>
          <p:nvPr/>
        </p:nvSpPr>
        <p:spPr>
          <a:xfrm>
            <a:off x="6551676" y="5458968"/>
            <a:ext cx="18356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Parses the AI's JSON</a:t>
            </a:r>
            <a:endParaRPr lang="en-US" sz="1300" dirty="0"/>
          </a:p>
        </p:txBody>
      </p:sp>
      <p:sp>
        <p:nvSpPr>
          <p:cNvPr id="35" name="Shape 30"/>
          <p:cNvSpPr/>
          <p:nvPr/>
        </p:nvSpPr>
        <p:spPr>
          <a:xfrm>
            <a:off x="8981694" y="1920240"/>
            <a:ext cx="2475738" cy="4114800"/>
          </a:xfrm>
          <a:prstGeom prst="roundRect">
            <a:avLst>
              <a:gd name="adj" fmla="val 4432"/>
            </a:avLst>
          </a:prstGeom>
          <a:solidFill>
            <a:srgbClr val="FFFFFF"/>
          </a:solidFill>
          <a:ln w="9525">
            <a:solidFill>
              <a:srgbClr val="D9CFC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6" name="Shape 31"/>
          <p:cNvSpPr/>
          <p:nvPr/>
        </p:nvSpPr>
        <p:spPr>
          <a:xfrm>
            <a:off x="9301734" y="2240280"/>
            <a:ext cx="640080" cy="640080"/>
          </a:xfrm>
          <a:prstGeom prst="ellipse">
            <a:avLst/>
          </a:prstGeom>
          <a:solidFill>
            <a:srgbClr val="16302C"/>
          </a:solidFill>
          <a:ln w="12700">
            <a:solidFill>
              <a:srgbClr val="16302C"/>
            </a:solidFill>
            <a:prstDash val="solid"/>
          </a:ln>
        </p:spPr>
      </p:sp>
      <p:pic>
        <p:nvPicPr>
          <p:cNvPr id="3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8155" y="2406701"/>
            <a:ext cx="307238" cy="307238"/>
          </a:xfrm>
          <a:prstGeom prst="rect">
            <a:avLst/>
          </a:prstGeom>
        </p:spPr>
      </p:pic>
      <p:sp>
        <p:nvSpPr>
          <p:cNvPr id="38" name="Text 32"/>
          <p:cNvSpPr txBox="1"/>
          <p:nvPr/>
        </p:nvSpPr>
        <p:spPr>
          <a:xfrm>
            <a:off x="9301734" y="3017520"/>
            <a:ext cx="18356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30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Testing</a:t>
            </a:r>
            <a:endParaRPr lang="en-US" sz="2000" dirty="0"/>
          </a:p>
        </p:txBody>
      </p:sp>
      <p:sp>
        <p:nvSpPr>
          <p:cNvPr id="39" name="Text 33"/>
          <p:cNvSpPr txBox="1"/>
          <p:nvPr/>
        </p:nvSpPr>
        <p:spPr>
          <a:xfrm>
            <a:off x="9301734" y="3611880"/>
            <a:ext cx="18356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Postman</a:t>
            </a:r>
            <a:endParaRPr lang="en-US" sz="1600" dirty="0"/>
          </a:p>
        </p:txBody>
      </p:sp>
      <p:sp>
        <p:nvSpPr>
          <p:cNvPr id="40" name="Text 34"/>
          <p:cNvSpPr txBox="1"/>
          <p:nvPr/>
        </p:nvSpPr>
        <p:spPr>
          <a:xfrm>
            <a:off x="9301734" y="3904488"/>
            <a:ext cx="18356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endpoint tested</a:t>
            </a:r>
            <a:endParaRPr lang="en-US" sz="1300" dirty="0"/>
          </a:p>
        </p:txBody>
      </p:sp>
      <p:sp>
        <p:nvSpPr>
          <p:cNvPr id="41" name="Text 35"/>
          <p:cNvSpPr txBox="1"/>
          <p:nvPr/>
        </p:nvSpPr>
        <p:spPr>
          <a:xfrm>
            <a:off x="9301734" y="4389120"/>
            <a:ext cx="18356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IntelliJ IDEA</a:t>
            </a:r>
            <a:endParaRPr lang="en-US" sz="1600" dirty="0"/>
          </a:p>
        </p:txBody>
      </p:sp>
      <p:sp>
        <p:nvSpPr>
          <p:cNvPr id="42" name="Text 36"/>
          <p:cNvSpPr txBox="1"/>
          <p:nvPr/>
        </p:nvSpPr>
        <p:spPr>
          <a:xfrm>
            <a:off x="9301734" y="4681728"/>
            <a:ext cx="18356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and run config</a:t>
            </a:r>
            <a:endParaRPr lang="en-US" sz="1300" dirty="0"/>
          </a:p>
        </p:txBody>
      </p:sp>
      <p:sp>
        <p:nvSpPr>
          <p:cNvPr id="43" name="Text 37"/>
          <p:cNvSpPr txBox="1"/>
          <p:nvPr/>
        </p:nvSpPr>
        <p:spPr>
          <a:xfrm>
            <a:off x="731520" y="63550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Rifqa  ·  Spring Boot Capstone 2</a:t>
            </a:r>
            <a:endParaRPr lang="en-US" sz="1000" dirty="0"/>
          </a:p>
        </p:txBody>
      </p:sp>
      <p:sp>
        <p:nvSpPr>
          <p:cNvPr id="44" name="Text 38"/>
          <p:cNvSpPr txBox="1"/>
          <p:nvPr/>
        </p:nvSpPr>
        <p:spPr>
          <a:xfrm>
            <a:off x="10085832" y="6355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13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C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6302C"/>
          </a:solidFill>
          <a:ln w="12700">
            <a:solidFill>
              <a:srgbClr val="16302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2700000">
            <a:off x="749808" y="896112"/>
            <a:ext cx="118872" cy="118872"/>
          </a:xfrm>
          <a:prstGeom prst="rect">
            <a:avLst/>
          </a:prstGeom>
          <a:solidFill>
            <a:srgbClr val="EDB897"/>
          </a:solidFill>
          <a:ln w="12700">
            <a:solidFill>
              <a:srgbClr val="EDB89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" y="822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DB8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15 ENDPOINTS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3716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3ECE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</a:t>
            </a:r>
            <a:endParaRPr lang="en-US" sz="8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4688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 across 10 controllers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154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DB8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8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2519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tell the story, from match to review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51206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9D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 are standard CRUD.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0" y="822960"/>
            <a:ext cx="640080" cy="640080"/>
          </a:xfrm>
          <a:prstGeom prst="ellipse">
            <a:avLst/>
          </a:prstGeom>
          <a:solidFill>
            <a:srgbClr val="B4532A"/>
          </a:solidFill>
          <a:ln w="12700">
            <a:solidFill>
              <a:srgbClr val="B4532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38421" y="989381"/>
            <a:ext cx="307238" cy="307238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5440680" y="7772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45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01–03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6263640" y="7772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30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Matching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5440680" y="118872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4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 a roommate  ·  Confirm a match  ·  Unmatch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572000" y="1920240"/>
            <a:ext cx="640080" cy="640080"/>
          </a:xfrm>
          <a:prstGeom prst="ellipse">
            <a:avLst/>
          </a:prstGeom>
          <a:solidFill>
            <a:srgbClr val="B4532A"/>
          </a:solidFill>
          <a:ln w="12700">
            <a:solidFill>
              <a:srgbClr val="B4532A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8421" y="2086661"/>
            <a:ext cx="307238" cy="30723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5440680" y="18745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45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04–06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6263640" y="18745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30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Room Listings</a:t>
            </a:r>
            <a:endParaRPr lang="en-US" sz="2000" dirty="0"/>
          </a:p>
        </p:txBody>
      </p:sp>
      <p:sp>
        <p:nvSpPr>
          <p:cNvPr id="19" name="Text 15"/>
          <p:cNvSpPr txBox="1"/>
          <p:nvPr/>
        </p:nvSpPr>
        <p:spPr>
          <a:xfrm>
            <a:off x="5440680" y="228600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4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Rooms by city  ·  Rooms under a budget  ·  Toggle availability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4572000" y="3017520"/>
            <a:ext cx="640080" cy="640080"/>
          </a:xfrm>
          <a:prstGeom prst="ellipse">
            <a:avLst/>
          </a:prstGeom>
          <a:solidFill>
            <a:srgbClr val="B4532A"/>
          </a:solidFill>
          <a:ln w="12700">
            <a:solidFill>
              <a:srgbClr val="B4532A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8421" y="3183941"/>
            <a:ext cx="307238" cy="307238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5440680" y="29718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45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07–09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6263640" y="29718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30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Listing Requests</a:t>
            </a:r>
            <a:endParaRPr lang="en-US" sz="2000" dirty="0"/>
          </a:p>
        </p:txBody>
      </p:sp>
      <p:sp>
        <p:nvSpPr>
          <p:cNvPr id="24" name="Text 19"/>
          <p:cNvSpPr txBox="1"/>
          <p:nvPr/>
        </p:nvSpPr>
        <p:spPr>
          <a:xfrm>
            <a:off x="5440680" y="338328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4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a room  ·  Accept a request  ·  Reject a request</a:t>
            </a:r>
            <a:endParaRPr lang="en-US" sz="1400" dirty="0"/>
          </a:p>
        </p:txBody>
      </p:sp>
      <p:sp>
        <p:nvSpPr>
          <p:cNvPr id="25" name="Shape 20"/>
          <p:cNvSpPr/>
          <p:nvPr/>
        </p:nvSpPr>
        <p:spPr>
          <a:xfrm>
            <a:off x="4572000" y="4114800"/>
            <a:ext cx="640080" cy="640080"/>
          </a:xfrm>
          <a:prstGeom prst="ellipse">
            <a:avLst/>
          </a:prstGeom>
          <a:solidFill>
            <a:srgbClr val="B4532A"/>
          </a:solidFill>
          <a:ln w="12700">
            <a:solidFill>
              <a:srgbClr val="B4532A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8421" y="4281221"/>
            <a:ext cx="307238" cy="307238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5440680" y="40690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45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10–12</a:t>
            </a:r>
            <a:endParaRPr lang="en-US" sz="1300" dirty="0"/>
          </a:p>
        </p:txBody>
      </p:sp>
      <p:sp>
        <p:nvSpPr>
          <p:cNvPr id="28" name="Text 22"/>
          <p:cNvSpPr txBox="1"/>
          <p:nvPr/>
        </p:nvSpPr>
        <p:spPr>
          <a:xfrm>
            <a:off x="6263640" y="40690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30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Agreements</a:t>
            </a:r>
            <a:endParaRPr lang="en-US" sz="2000" dirty="0"/>
          </a:p>
        </p:txBody>
      </p:sp>
      <p:sp>
        <p:nvSpPr>
          <p:cNvPr id="29" name="Text 23"/>
          <p:cNvSpPr txBox="1"/>
          <p:nvPr/>
        </p:nvSpPr>
        <p:spPr>
          <a:xfrm>
            <a:off x="5440680" y="448056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4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house rule  ·  Activate  ·  Terminate</a:t>
            </a:r>
            <a:endParaRPr lang="en-US" sz="1400" dirty="0"/>
          </a:p>
        </p:txBody>
      </p:sp>
      <p:sp>
        <p:nvSpPr>
          <p:cNvPr id="30" name="Shape 24"/>
          <p:cNvSpPr/>
          <p:nvPr/>
        </p:nvSpPr>
        <p:spPr>
          <a:xfrm>
            <a:off x="4572000" y="5212080"/>
            <a:ext cx="640080" cy="640080"/>
          </a:xfrm>
          <a:prstGeom prst="ellipse">
            <a:avLst/>
          </a:prstGeom>
          <a:solidFill>
            <a:srgbClr val="B4532A"/>
          </a:solidFill>
          <a:ln w="12700">
            <a:solidFill>
              <a:srgbClr val="B4532A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8421" y="5378501"/>
            <a:ext cx="307238" cy="307238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5440680" y="51663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45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13–15</a:t>
            </a:r>
            <a:endParaRPr lang="en-US" sz="1300" dirty="0"/>
          </a:p>
        </p:txBody>
      </p:sp>
      <p:sp>
        <p:nvSpPr>
          <p:cNvPr id="33" name="Text 26"/>
          <p:cNvSpPr txBox="1"/>
          <p:nvPr/>
        </p:nvSpPr>
        <p:spPr>
          <a:xfrm>
            <a:off x="6263640" y="51663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30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Trust &amp; Safety</a:t>
            </a:r>
            <a:endParaRPr lang="en-US" sz="2000" dirty="0"/>
          </a:p>
        </p:txBody>
      </p:sp>
      <p:sp>
        <p:nvSpPr>
          <p:cNvPr id="34" name="Text 27"/>
          <p:cNvSpPr txBox="1"/>
          <p:nvPr/>
        </p:nvSpPr>
        <p:spPr>
          <a:xfrm>
            <a:off x="5440680" y="557784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4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a roommate  ·  Average rating  ·  Resolve a report</a:t>
            </a:r>
            <a:endParaRPr lang="en-US" sz="1400" dirty="0"/>
          </a:p>
        </p:txBody>
      </p:sp>
      <p:sp>
        <p:nvSpPr>
          <p:cNvPr id="35" name="Text 28"/>
          <p:cNvSpPr txBox="1"/>
          <p:nvPr/>
        </p:nvSpPr>
        <p:spPr>
          <a:xfrm>
            <a:off x="731520" y="63550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Rifqa  ·  Spring Boot Capstone 2</a:t>
            </a:r>
            <a:endParaRPr lang="en-US" sz="1000" dirty="0"/>
          </a:p>
        </p:txBody>
      </p:sp>
      <p:sp>
        <p:nvSpPr>
          <p:cNvPr id="36" name="Text 29"/>
          <p:cNvSpPr txBox="1"/>
          <p:nvPr/>
        </p:nvSpPr>
        <p:spPr>
          <a:xfrm>
            <a:off x="10085832" y="6355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13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C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2700000">
            <a:off x="749808" y="576072"/>
            <a:ext cx="118872" cy="118872"/>
          </a:xfrm>
          <a:prstGeom prst="rect">
            <a:avLst/>
          </a:prstGeom>
          <a:solidFill>
            <a:srgbClr val="B4532A"/>
          </a:solidFill>
          <a:ln w="12700">
            <a:solidFill>
              <a:srgbClr val="B4532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24128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4A5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 01–03  ·  AI MATCHING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30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Matching that explains itself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731520" y="1828800"/>
            <a:ext cx="3361944" cy="4251960"/>
          </a:xfrm>
          <a:prstGeom prst="roundRect">
            <a:avLst>
              <a:gd name="adj" fmla="val 3264"/>
            </a:avLst>
          </a:prstGeom>
          <a:solidFill>
            <a:srgbClr val="FFFFFF"/>
          </a:solidFill>
          <a:ln w="9525">
            <a:solidFill>
              <a:srgbClr val="D9CFC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1051560" y="21031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45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1051560" y="2697480"/>
            <a:ext cx="822960" cy="292608"/>
          </a:xfrm>
          <a:prstGeom prst="roundRect">
            <a:avLst>
              <a:gd name="adj" fmla="val 25000"/>
            </a:avLst>
          </a:prstGeom>
          <a:solidFill>
            <a:srgbClr val="2F6F62"/>
          </a:solidFill>
          <a:ln w="12700">
            <a:solidFill>
              <a:srgbClr val="2F6F6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69748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090672"/>
            <a:ext cx="2721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30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Suggest a roommate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1051560" y="3584448"/>
            <a:ext cx="2721864" cy="640080"/>
          </a:xfrm>
          <a:prstGeom prst="roundRect">
            <a:avLst>
              <a:gd name="adj" fmla="val 8571"/>
            </a:avLst>
          </a:prstGeom>
          <a:solidFill>
            <a:srgbClr val="F3ECE1"/>
          </a:solidFill>
          <a:ln w="12700">
            <a:solidFill>
              <a:srgbClr val="F3ECE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3584448"/>
            <a:ext cx="25389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30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/api/v1/match/suggest/{userId}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4434840"/>
            <a:ext cx="27218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4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Sends up to 50 same-city, same-gender candidates to the AI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4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the best fit with a 0–100 score and reasons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4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saved yet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413504" y="1828800"/>
            <a:ext cx="3361944" cy="4251960"/>
          </a:xfrm>
          <a:prstGeom prst="roundRect">
            <a:avLst>
              <a:gd name="adj" fmla="val 3264"/>
            </a:avLst>
          </a:prstGeom>
          <a:solidFill>
            <a:srgbClr val="FFFFFF"/>
          </a:solidFill>
          <a:ln w="9525">
            <a:solidFill>
              <a:srgbClr val="D9CFC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733544" y="21031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45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4733544" y="2697480"/>
            <a:ext cx="822960" cy="292608"/>
          </a:xfrm>
          <a:prstGeom prst="roundRect">
            <a:avLst>
              <a:gd name="adj" fmla="val 25000"/>
            </a:avLst>
          </a:prstGeom>
          <a:solidFill>
            <a:srgbClr val="B4532A"/>
          </a:solidFill>
          <a:ln w="12700">
            <a:solidFill>
              <a:srgbClr val="B4532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733544" y="269748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733544" y="3090672"/>
            <a:ext cx="2721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30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Confirm a match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4733544" y="3584448"/>
            <a:ext cx="2721864" cy="640080"/>
          </a:xfrm>
          <a:prstGeom prst="roundRect">
            <a:avLst>
              <a:gd name="adj" fmla="val 8571"/>
            </a:avLst>
          </a:prstGeom>
          <a:solidFill>
            <a:srgbClr val="F3ECE1"/>
          </a:solidFill>
          <a:ln w="12700">
            <a:solidFill>
              <a:srgbClr val="F3ECE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24984" y="3584448"/>
            <a:ext cx="25389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30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/api/v1/match/confirm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4733544" y="4434840"/>
            <a:ext cx="27218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4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users must be LOOKING and not already matched, in either order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4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Sets both to MATCHED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4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Emails both users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095488" y="1828800"/>
            <a:ext cx="3361944" cy="4251960"/>
          </a:xfrm>
          <a:prstGeom prst="roundRect">
            <a:avLst>
              <a:gd name="adj" fmla="val 3264"/>
            </a:avLst>
          </a:prstGeom>
          <a:solidFill>
            <a:srgbClr val="FFFFFF"/>
          </a:solidFill>
          <a:ln w="9525">
            <a:solidFill>
              <a:srgbClr val="D9CFC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8415528" y="21031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45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800" dirty="0"/>
          </a:p>
        </p:txBody>
      </p:sp>
      <p:sp>
        <p:nvSpPr>
          <p:cNvPr id="23" name="Shape 21"/>
          <p:cNvSpPr/>
          <p:nvPr/>
        </p:nvSpPr>
        <p:spPr>
          <a:xfrm>
            <a:off x="8415528" y="2697480"/>
            <a:ext cx="822960" cy="292608"/>
          </a:xfrm>
          <a:prstGeom prst="roundRect">
            <a:avLst>
              <a:gd name="adj" fmla="val 25000"/>
            </a:avLst>
          </a:prstGeom>
          <a:solidFill>
            <a:srgbClr val="7A2E3B"/>
          </a:solidFill>
          <a:ln w="12700">
            <a:solidFill>
              <a:srgbClr val="7A2E3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415528" y="269748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415528" y="3090672"/>
            <a:ext cx="2721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30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Unmatch</a:t>
            </a:r>
            <a:endParaRPr lang="en-US" sz="1900" dirty="0"/>
          </a:p>
        </p:txBody>
      </p:sp>
      <p:sp>
        <p:nvSpPr>
          <p:cNvPr id="26" name="Shape 24"/>
          <p:cNvSpPr/>
          <p:nvPr/>
        </p:nvSpPr>
        <p:spPr>
          <a:xfrm>
            <a:off x="8415528" y="3584448"/>
            <a:ext cx="2721864" cy="640080"/>
          </a:xfrm>
          <a:prstGeom prst="roundRect">
            <a:avLst>
              <a:gd name="adj" fmla="val 8571"/>
            </a:avLst>
          </a:prstGeom>
          <a:solidFill>
            <a:srgbClr val="F3ECE1"/>
          </a:solidFill>
          <a:ln w="12700">
            <a:solidFill>
              <a:srgbClr val="F3ECE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506968" y="3584448"/>
            <a:ext cx="25389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30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/api/v1/match/delete/{id}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8415528" y="4434840"/>
            <a:ext cx="27218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4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the match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4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Puts both users back in the LOOKING pool so they can get new suggestions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731520" y="63550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Rifqa  ·  Spring Boot Capstone 2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10085832" y="6355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13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C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2700000">
            <a:off x="749808" y="576072"/>
            <a:ext cx="118872" cy="118872"/>
          </a:xfrm>
          <a:prstGeom prst="rect">
            <a:avLst/>
          </a:prstGeom>
          <a:solidFill>
            <a:srgbClr val="B4532A"/>
          </a:solidFill>
          <a:ln w="12700">
            <a:solidFill>
              <a:srgbClr val="B4532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24128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4A5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SPOTLIGHT  ·  ENDPOINT 01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30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the AI match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960120" y="2103120"/>
            <a:ext cx="0" cy="3383280"/>
          </a:xfrm>
          <a:prstGeom prst="line">
            <a:avLst/>
          </a:prstGeom>
          <a:noFill/>
          <a:ln w="19050">
            <a:solidFill>
              <a:srgbClr val="D9CFC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828800"/>
            <a:ext cx="457200" cy="457200"/>
          </a:xfrm>
          <a:prstGeom prst="ellipse">
            <a:avLst/>
          </a:prstGeom>
          <a:solidFill>
            <a:srgbClr val="16302C"/>
          </a:solidFill>
          <a:ln w="38100">
            <a:solidFill>
              <a:srgbClr val="F3ECE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B8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180136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30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the user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13055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4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exist and have status LOOKING.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731520" y="2679192"/>
            <a:ext cx="457200" cy="457200"/>
          </a:xfrm>
          <a:prstGeom prst="ellipse">
            <a:avLst/>
          </a:prstGeom>
          <a:solidFill>
            <a:srgbClr val="16302C"/>
          </a:solidFill>
          <a:ln w="38100">
            <a:solidFill>
              <a:srgbClr val="F3ECE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2679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B8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265176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30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candidates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1463040" y="298094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4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LOOKING users in the same city and gender, up to 50.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731520" y="3529584"/>
            <a:ext cx="457200" cy="457200"/>
          </a:xfrm>
          <a:prstGeom prst="ellipse">
            <a:avLst/>
          </a:prstGeom>
          <a:solidFill>
            <a:srgbClr val="16302C"/>
          </a:solidFill>
          <a:ln w="38100">
            <a:solidFill>
              <a:srgbClr val="F3ECE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35295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B8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350215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30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the AI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383133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4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Lifestyle fields only, and the model must reply in JSON.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731520" y="4379976"/>
            <a:ext cx="457200" cy="457200"/>
          </a:xfrm>
          <a:prstGeom prst="ellipse">
            <a:avLst/>
          </a:prstGeom>
          <a:solidFill>
            <a:srgbClr val="16302C"/>
          </a:solidFill>
          <a:ln w="38100">
            <a:solidFill>
              <a:srgbClr val="F3ECE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" y="43799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B8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463040" y="4352544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30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Validate the answer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46817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4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kept within 0–100; the pick must be a real candidate.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731520" y="5230368"/>
            <a:ext cx="457200" cy="457200"/>
          </a:xfrm>
          <a:prstGeom prst="ellipse">
            <a:avLst/>
          </a:prstGeom>
          <a:solidFill>
            <a:srgbClr val="16302C"/>
          </a:solidFill>
          <a:ln w="38100">
            <a:solidFill>
              <a:srgbClr val="F3ECE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31520" y="52303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B8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463040" y="5202936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30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Return, don't save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1463040" y="5532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4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user reviews it, then calls POST /match/confirm.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6675120" y="1828800"/>
            <a:ext cx="4782312" cy="4251960"/>
          </a:xfrm>
          <a:prstGeom prst="roundRect">
            <a:avLst>
              <a:gd name="adj" fmla="val 3011"/>
            </a:avLst>
          </a:prstGeom>
          <a:solidFill>
            <a:srgbClr val="16302C"/>
          </a:solidFill>
          <a:ln w="12700">
            <a:solidFill>
              <a:srgbClr val="16302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040880" y="2148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DB8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RESPONSE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7040880" y="2560320"/>
            <a:ext cx="405079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3EC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DB8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"userId": </a:t>
            </a:r>
            <a:pPr indent="0" marL="0">
              <a:buNone/>
            </a:pPr>
            <a:r>
              <a:rPr lang="en-US" sz="1250" dirty="0">
                <a:solidFill>
                  <a:srgbClr val="F3EC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DB8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"suggestedUserId": </a:t>
            </a:r>
            <a:pPr indent="0" marL="0">
              <a:buNone/>
            </a:pPr>
            <a:r>
              <a:rPr lang="en-US" sz="1250" dirty="0">
                <a:solidFill>
                  <a:srgbClr val="F3EC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DB8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"suggestedUserName": </a:t>
            </a:r>
            <a:pPr indent="0" marL="0">
              <a:buNone/>
            </a:pPr>
            <a:r>
              <a:rPr lang="en-US" sz="1250" dirty="0">
                <a:solidFill>
                  <a:srgbClr val="F3EC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"Faisal",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DB8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"compatibilityScore": </a:t>
            </a:r>
            <a:pPr indent="0" marL="0">
              <a:buNone/>
            </a:pPr>
            <a:r>
              <a:rPr lang="en-US" sz="1250" dirty="0">
                <a:solidFill>
                  <a:srgbClr val="F3EC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87.0,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DB8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"aiReasoning": </a:t>
            </a:r>
            <a:pPr indent="0" marL="0">
              <a:buNone/>
            </a:pPr>
            <a:r>
              <a:rPr lang="en-US" sz="1250" dirty="0">
                <a:solidFill>
                  <a:srgbClr val="F3EC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"Both are early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3EC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birds with similar budgets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3EC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and high cleanliness."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3EC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7040880" y="5029200"/>
            <a:ext cx="4050792" cy="0"/>
          </a:xfrm>
          <a:prstGeom prst="line">
            <a:avLst/>
          </a:prstGeom>
          <a:noFill/>
          <a:ln w="12700">
            <a:solidFill>
              <a:srgbClr val="21443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40880" y="5230368"/>
            <a:ext cx="457200" cy="457200"/>
          </a:xfrm>
          <a:prstGeom prst="ellipse">
            <a:avLst/>
          </a:prstGeom>
          <a:solidFill>
            <a:srgbClr val="B4532A"/>
          </a:solidFill>
          <a:ln w="12700">
            <a:solidFill>
              <a:srgbClr val="B4532A"/>
            </a:solidFill>
            <a:prstDash val="solid"/>
          </a:ln>
        </p:spPr>
      </p:sp>
      <p:pic>
        <p:nvPicPr>
          <p:cNvPr id="3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59752" y="5349240"/>
            <a:ext cx="219456" cy="219456"/>
          </a:xfrm>
          <a:prstGeom prst="rect">
            <a:avLst/>
          </a:prstGeom>
        </p:spPr>
      </p:pic>
      <p:sp>
        <p:nvSpPr>
          <p:cNvPr id="32" name="Text 29"/>
          <p:cNvSpPr txBox="1"/>
          <p:nvPr/>
        </p:nvSpPr>
        <p:spPr>
          <a:xfrm>
            <a:off x="7680960" y="5166360"/>
            <a:ext cx="34107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Names, emails, phone numbers and passwords never leave the server.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731520" y="63550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Rifqa  ·  Spring Boot Capstone 2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10085832" y="6355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13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C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2700000">
            <a:off x="749808" y="576072"/>
            <a:ext cx="118872" cy="118872"/>
          </a:xfrm>
          <a:prstGeom prst="rect">
            <a:avLst/>
          </a:prstGeom>
          <a:solidFill>
            <a:srgbClr val="B4532A"/>
          </a:solidFill>
          <a:ln w="12700">
            <a:solidFill>
              <a:srgbClr val="B4532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24128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4A5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 04–06  ·  ROOM LISTINGS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30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Rooms people can actually afford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731520" y="1828800"/>
            <a:ext cx="3361944" cy="4251960"/>
          </a:xfrm>
          <a:prstGeom prst="roundRect">
            <a:avLst>
              <a:gd name="adj" fmla="val 3264"/>
            </a:avLst>
          </a:prstGeom>
          <a:solidFill>
            <a:srgbClr val="FFFFFF"/>
          </a:solidFill>
          <a:ln w="9525">
            <a:solidFill>
              <a:srgbClr val="D9CFC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1051560" y="21031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45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1051560" y="2697480"/>
            <a:ext cx="822960" cy="292608"/>
          </a:xfrm>
          <a:prstGeom prst="roundRect">
            <a:avLst>
              <a:gd name="adj" fmla="val 25000"/>
            </a:avLst>
          </a:prstGeom>
          <a:solidFill>
            <a:srgbClr val="2F6F62"/>
          </a:solidFill>
          <a:ln w="12700">
            <a:solidFill>
              <a:srgbClr val="2F6F6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69748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090672"/>
            <a:ext cx="2721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30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Rooms by city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1051560" y="3584448"/>
            <a:ext cx="2721864" cy="640080"/>
          </a:xfrm>
          <a:prstGeom prst="roundRect">
            <a:avLst>
              <a:gd name="adj" fmla="val 8571"/>
            </a:avLst>
          </a:prstGeom>
          <a:solidFill>
            <a:srgbClr val="F3ECE1"/>
          </a:solidFill>
          <a:ln w="12700">
            <a:solidFill>
              <a:srgbClr val="F3ECE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3584448"/>
            <a:ext cx="25389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30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/api/v1/room-listing/get-available-by-city/{city}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4434840"/>
            <a:ext cx="27218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4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only listings still marked available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4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message when a city has none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413504" y="1828800"/>
            <a:ext cx="3361944" cy="4251960"/>
          </a:xfrm>
          <a:prstGeom prst="roundRect">
            <a:avLst>
              <a:gd name="adj" fmla="val 3264"/>
            </a:avLst>
          </a:prstGeom>
          <a:solidFill>
            <a:srgbClr val="FFFFFF"/>
          </a:solidFill>
          <a:ln w="9525">
            <a:solidFill>
              <a:srgbClr val="D9CFC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733544" y="21031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45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4733544" y="2697480"/>
            <a:ext cx="822960" cy="292608"/>
          </a:xfrm>
          <a:prstGeom prst="roundRect">
            <a:avLst>
              <a:gd name="adj" fmla="val 25000"/>
            </a:avLst>
          </a:prstGeom>
          <a:solidFill>
            <a:srgbClr val="2F6F62"/>
          </a:solidFill>
          <a:ln w="12700">
            <a:solidFill>
              <a:srgbClr val="2F6F6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733544" y="269748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733544" y="3090672"/>
            <a:ext cx="2721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30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Rooms under a budget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4733544" y="3584448"/>
            <a:ext cx="2721864" cy="640080"/>
          </a:xfrm>
          <a:prstGeom prst="roundRect">
            <a:avLst>
              <a:gd name="adj" fmla="val 8571"/>
            </a:avLst>
          </a:prstGeom>
          <a:solidFill>
            <a:srgbClr val="F3ECE1"/>
          </a:solidFill>
          <a:ln w="12700">
            <a:solidFill>
              <a:srgbClr val="F3ECE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24984" y="3584448"/>
            <a:ext cx="25389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30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/api/v1/room-listing/get-available-by-max-rent/{maxRent}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4733544" y="4434840"/>
            <a:ext cx="27218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4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listings at or below the budget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4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Sorted cheapest first with a custom JPQL query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095488" y="1828800"/>
            <a:ext cx="3361944" cy="4251960"/>
          </a:xfrm>
          <a:prstGeom prst="roundRect">
            <a:avLst>
              <a:gd name="adj" fmla="val 3264"/>
            </a:avLst>
          </a:prstGeom>
          <a:solidFill>
            <a:srgbClr val="FFFFFF"/>
          </a:solidFill>
          <a:ln w="9525">
            <a:solidFill>
              <a:srgbClr val="D9CFC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8415528" y="21031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45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800" dirty="0"/>
          </a:p>
        </p:txBody>
      </p:sp>
      <p:sp>
        <p:nvSpPr>
          <p:cNvPr id="23" name="Shape 21"/>
          <p:cNvSpPr/>
          <p:nvPr/>
        </p:nvSpPr>
        <p:spPr>
          <a:xfrm>
            <a:off x="8415528" y="2697480"/>
            <a:ext cx="822960" cy="292608"/>
          </a:xfrm>
          <a:prstGeom prst="roundRect">
            <a:avLst>
              <a:gd name="adj" fmla="val 25000"/>
            </a:avLst>
          </a:prstGeom>
          <a:solidFill>
            <a:srgbClr val="8C6A1F"/>
          </a:solidFill>
          <a:ln w="12700">
            <a:solidFill>
              <a:srgbClr val="8C6A1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415528" y="269748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415528" y="3090672"/>
            <a:ext cx="2721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30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Toggle availability</a:t>
            </a:r>
            <a:endParaRPr lang="en-US" sz="1900" dirty="0"/>
          </a:p>
        </p:txBody>
      </p:sp>
      <p:sp>
        <p:nvSpPr>
          <p:cNvPr id="26" name="Shape 24"/>
          <p:cNvSpPr/>
          <p:nvPr/>
        </p:nvSpPr>
        <p:spPr>
          <a:xfrm>
            <a:off x="8415528" y="3584448"/>
            <a:ext cx="2721864" cy="640080"/>
          </a:xfrm>
          <a:prstGeom prst="roundRect">
            <a:avLst>
              <a:gd name="adj" fmla="val 8571"/>
            </a:avLst>
          </a:prstGeom>
          <a:solidFill>
            <a:srgbClr val="F3ECE1"/>
          </a:solidFill>
          <a:ln w="12700">
            <a:solidFill>
              <a:srgbClr val="F3ECE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506968" y="3584448"/>
            <a:ext cx="25389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30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/api/v1/room-listing/toggle-availability/{id}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8415528" y="4434840"/>
            <a:ext cx="27218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4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Flips a listing between available and not available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4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Unavailable rooms can't receive new requests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731520" y="63550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Rifqa  ·  Spring Boot Capstone 2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10085832" y="6355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13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EC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2700000">
            <a:off x="749808" y="576072"/>
            <a:ext cx="118872" cy="118872"/>
          </a:xfrm>
          <a:prstGeom prst="rect">
            <a:avLst/>
          </a:prstGeom>
          <a:solidFill>
            <a:srgbClr val="B4532A"/>
          </a:solidFill>
          <a:ln w="12700">
            <a:solidFill>
              <a:srgbClr val="B4532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24128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4A5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 07–09  ·  LISTING REQUESTS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30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the owner decides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731520" y="1874520"/>
            <a:ext cx="10725912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9CFC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1051560" y="1874520"/>
            <a:ext cx="731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45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1874520" y="2103120"/>
            <a:ext cx="822960" cy="292608"/>
          </a:xfrm>
          <a:prstGeom prst="roundRect">
            <a:avLst>
              <a:gd name="adj" fmla="val 25000"/>
            </a:avLst>
          </a:prstGeom>
          <a:solidFill>
            <a:srgbClr val="B4532A"/>
          </a:solidFill>
          <a:ln w="12700">
            <a:solidFill>
              <a:srgbClr val="B4532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74520" y="210312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0574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30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Request a room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1874520" y="2514600"/>
            <a:ext cx="6035040" cy="384048"/>
          </a:xfrm>
          <a:prstGeom prst="roundRect">
            <a:avLst>
              <a:gd name="adj" fmla="val 14286"/>
            </a:avLst>
          </a:prstGeom>
          <a:solidFill>
            <a:srgbClr val="F3ECE1"/>
          </a:solidFill>
          <a:ln w="12700">
            <a:solidFill>
              <a:srgbClr val="F3ECE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965960" y="2514600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630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/api/v1/listing-request/add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183880" y="2103120"/>
            <a:ext cx="0" cy="777240"/>
          </a:xfrm>
          <a:prstGeom prst="line">
            <a:avLst/>
          </a:prstGeom>
          <a:noFill/>
          <a:ln w="12700">
            <a:solidFill>
              <a:srgbClr val="D9CFC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12480" y="2011680"/>
            <a:ext cx="27706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4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listing must be available. One request per user per listing; it starts as PENDING.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731520" y="3337560"/>
            <a:ext cx="10725912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9CFC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1051560" y="3337560"/>
            <a:ext cx="731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45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1874520" y="3566160"/>
            <a:ext cx="822960" cy="292608"/>
          </a:xfrm>
          <a:prstGeom prst="roundRect">
            <a:avLst>
              <a:gd name="adj" fmla="val 25000"/>
            </a:avLst>
          </a:prstGeom>
          <a:solidFill>
            <a:srgbClr val="8C6A1F"/>
          </a:solidFill>
          <a:ln w="12700">
            <a:solidFill>
              <a:srgbClr val="8C6A1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874520" y="356616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2834640" y="35204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30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Accept a request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1874520" y="3977640"/>
            <a:ext cx="6035040" cy="384048"/>
          </a:xfrm>
          <a:prstGeom prst="roundRect">
            <a:avLst>
              <a:gd name="adj" fmla="val 14286"/>
            </a:avLst>
          </a:prstGeom>
          <a:solidFill>
            <a:srgbClr val="F3ECE1"/>
          </a:solidFill>
          <a:ln w="12700">
            <a:solidFill>
              <a:srgbClr val="F3ECE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965960" y="3977640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630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/api/v1/listing-request/accept/requestid/{requestId}/renterid/{renterId}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183880" y="3566160"/>
            <a:ext cx="0" cy="777240"/>
          </a:xfrm>
          <a:prstGeom prst="line">
            <a:avLst/>
          </a:prstGeom>
          <a:noFill/>
          <a:ln w="12700">
            <a:solidFill>
              <a:srgbClr val="D9CFC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412480" y="3474720"/>
            <a:ext cx="27706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4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only, while PENDING. Emails the user the renter's name and phone.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731520" y="4800600"/>
            <a:ext cx="10725912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9CFC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1051560" y="4800600"/>
            <a:ext cx="731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45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2800" dirty="0"/>
          </a:p>
        </p:txBody>
      </p:sp>
      <p:sp>
        <p:nvSpPr>
          <p:cNvPr id="25" name="Shape 23"/>
          <p:cNvSpPr/>
          <p:nvPr/>
        </p:nvSpPr>
        <p:spPr>
          <a:xfrm>
            <a:off x="1874520" y="5029200"/>
            <a:ext cx="822960" cy="292608"/>
          </a:xfrm>
          <a:prstGeom prst="roundRect">
            <a:avLst>
              <a:gd name="adj" fmla="val 25000"/>
            </a:avLst>
          </a:prstGeom>
          <a:solidFill>
            <a:srgbClr val="8C6A1F"/>
          </a:solidFill>
          <a:ln w="12700">
            <a:solidFill>
              <a:srgbClr val="8C6A1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874520" y="502920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2834640" y="49834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30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Reject a request</a:t>
            </a:r>
            <a:endParaRPr lang="en-US" sz="1900" dirty="0"/>
          </a:p>
        </p:txBody>
      </p:sp>
      <p:sp>
        <p:nvSpPr>
          <p:cNvPr id="28" name="Shape 26"/>
          <p:cNvSpPr/>
          <p:nvPr/>
        </p:nvSpPr>
        <p:spPr>
          <a:xfrm>
            <a:off x="1874520" y="5440680"/>
            <a:ext cx="6035040" cy="384048"/>
          </a:xfrm>
          <a:prstGeom prst="roundRect">
            <a:avLst>
              <a:gd name="adj" fmla="val 14286"/>
            </a:avLst>
          </a:prstGeom>
          <a:solidFill>
            <a:srgbClr val="F3ECE1"/>
          </a:solidFill>
          <a:ln w="12700">
            <a:solidFill>
              <a:srgbClr val="F3ECE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965960" y="5440680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630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/api/v1/listing-request/reject/requestid/{requestId}/renterid/{renterId}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8183880" y="5029200"/>
            <a:ext cx="0" cy="777240"/>
          </a:xfrm>
          <a:prstGeom prst="line">
            <a:avLst/>
          </a:prstGeom>
          <a:noFill/>
          <a:ln w="12700">
            <a:solidFill>
              <a:srgbClr val="D9CFC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412480" y="4937760"/>
            <a:ext cx="27706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4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owner and PENDING checks. A decided request can't change again.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731520" y="63550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Rifqa  ·  Spring Boot Capstone 2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10085832" y="6355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13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EC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2700000">
            <a:off x="749808" y="576072"/>
            <a:ext cx="118872" cy="118872"/>
          </a:xfrm>
          <a:prstGeom prst="rect">
            <a:avLst/>
          </a:prstGeom>
          <a:solidFill>
            <a:srgbClr val="B4532A"/>
          </a:solidFill>
          <a:ln w="12700">
            <a:solidFill>
              <a:srgbClr val="B4532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24128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4A5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 10–12  ·  AGREEMENTS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30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House rules, written and locked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731520" y="1828800"/>
            <a:ext cx="3361944" cy="4251960"/>
          </a:xfrm>
          <a:prstGeom prst="roundRect">
            <a:avLst>
              <a:gd name="adj" fmla="val 3264"/>
            </a:avLst>
          </a:prstGeom>
          <a:solidFill>
            <a:srgbClr val="FFFFFF"/>
          </a:solidFill>
          <a:ln w="9525">
            <a:solidFill>
              <a:srgbClr val="D9CFC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1051560" y="21031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45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1051560" y="2697480"/>
            <a:ext cx="822960" cy="292608"/>
          </a:xfrm>
          <a:prstGeom prst="roundRect">
            <a:avLst>
              <a:gd name="adj" fmla="val 25000"/>
            </a:avLst>
          </a:prstGeom>
          <a:solidFill>
            <a:srgbClr val="B4532A"/>
          </a:solidFill>
          <a:ln w="12700">
            <a:solidFill>
              <a:srgbClr val="B4532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69748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090672"/>
            <a:ext cx="2721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30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a house rule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1051560" y="3584448"/>
            <a:ext cx="2721864" cy="640080"/>
          </a:xfrm>
          <a:prstGeom prst="roundRect">
            <a:avLst>
              <a:gd name="adj" fmla="val 8571"/>
            </a:avLst>
          </a:prstGeom>
          <a:solidFill>
            <a:srgbClr val="F3ECE1"/>
          </a:solidFill>
          <a:ln w="12700">
            <a:solidFill>
              <a:srgbClr val="F3ECE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3584448"/>
            <a:ext cx="25389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30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/api/v1/agreement-term/add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4434840"/>
            <a:ext cx="27218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4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a term like "No guests after 11 PM"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4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while the agreement is a DRAFT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413504" y="1828800"/>
            <a:ext cx="3361944" cy="4251960"/>
          </a:xfrm>
          <a:prstGeom prst="roundRect">
            <a:avLst>
              <a:gd name="adj" fmla="val 3264"/>
            </a:avLst>
          </a:prstGeom>
          <a:solidFill>
            <a:srgbClr val="FFFFFF"/>
          </a:solidFill>
          <a:ln w="9525">
            <a:solidFill>
              <a:srgbClr val="D9CFC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733544" y="21031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45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4733544" y="2697480"/>
            <a:ext cx="822960" cy="292608"/>
          </a:xfrm>
          <a:prstGeom prst="roundRect">
            <a:avLst>
              <a:gd name="adj" fmla="val 25000"/>
            </a:avLst>
          </a:prstGeom>
          <a:solidFill>
            <a:srgbClr val="8C6A1F"/>
          </a:solidFill>
          <a:ln w="12700">
            <a:solidFill>
              <a:srgbClr val="8C6A1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733544" y="269748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733544" y="3090672"/>
            <a:ext cx="2721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30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Activate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4733544" y="3584448"/>
            <a:ext cx="2721864" cy="640080"/>
          </a:xfrm>
          <a:prstGeom prst="roundRect">
            <a:avLst>
              <a:gd name="adj" fmla="val 8571"/>
            </a:avLst>
          </a:prstGeom>
          <a:solidFill>
            <a:srgbClr val="F3ECE1"/>
          </a:solidFill>
          <a:ln w="12700">
            <a:solidFill>
              <a:srgbClr val="F3ECE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24984" y="3584448"/>
            <a:ext cx="25389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30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/api/v1/agreement/activate/{id}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4733544" y="4434840"/>
            <a:ext cx="27218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4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→ ACTIVE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4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agreement and its rules are now locked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095488" y="1828800"/>
            <a:ext cx="3361944" cy="4251960"/>
          </a:xfrm>
          <a:prstGeom prst="roundRect">
            <a:avLst>
              <a:gd name="adj" fmla="val 3264"/>
            </a:avLst>
          </a:prstGeom>
          <a:solidFill>
            <a:srgbClr val="FFFFFF"/>
          </a:solidFill>
          <a:ln w="9525">
            <a:solidFill>
              <a:srgbClr val="D9CFC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8415528" y="21031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45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800" dirty="0"/>
          </a:p>
        </p:txBody>
      </p:sp>
      <p:sp>
        <p:nvSpPr>
          <p:cNvPr id="23" name="Shape 21"/>
          <p:cNvSpPr/>
          <p:nvPr/>
        </p:nvSpPr>
        <p:spPr>
          <a:xfrm>
            <a:off x="8415528" y="2697480"/>
            <a:ext cx="822960" cy="292608"/>
          </a:xfrm>
          <a:prstGeom prst="roundRect">
            <a:avLst>
              <a:gd name="adj" fmla="val 25000"/>
            </a:avLst>
          </a:prstGeom>
          <a:solidFill>
            <a:srgbClr val="8C6A1F"/>
          </a:solidFill>
          <a:ln w="12700">
            <a:solidFill>
              <a:srgbClr val="8C6A1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415528" y="269748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415528" y="3090672"/>
            <a:ext cx="2721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30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Terminate</a:t>
            </a:r>
            <a:endParaRPr lang="en-US" sz="1900" dirty="0"/>
          </a:p>
        </p:txBody>
      </p:sp>
      <p:sp>
        <p:nvSpPr>
          <p:cNvPr id="26" name="Shape 24"/>
          <p:cNvSpPr/>
          <p:nvPr/>
        </p:nvSpPr>
        <p:spPr>
          <a:xfrm>
            <a:off x="8415528" y="3584448"/>
            <a:ext cx="2721864" cy="640080"/>
          </a:xfrm>
          <a:prstGeom prst="roundRect">
            <a:avLst>
              <a:gd name="adj" fmla="val 8571"/>
            </a:avLst>
          </a:prstGeom>
          <a:solidFill>
            <a:srgbClr val="F3ECE1"/>
          </a:solidFill>
          <a:ln w="12700">
            <a:solidFill>
              <a:srgbClr val="F3ECE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506968" y="3584448"/>
            <a:ext cx="25389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30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/api/v1/agreement/terminate/{id}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8415528" y="4434840"/>
            <a:ext cx="27218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4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→ TERMINATED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4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Ending the agreement is what unlocks reviews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731520" y="63550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Rifqa  ·  Spring Boot Capstone 2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10085832" y="6355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13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EC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2700000">
            <a:off x="749808" y="576072"/>
            <a:ext cx="118872" cy="118872"/>
          </a:xfrm>
          <a:prstGeom prst="rect">
            <a:avLst/>
          </a:prstGeom>
          <a:solidFill>
            <a:srgbClr val="B4532A"/>
          </a:solidFill>
          <a:ln w="12700">
            <a:solidFill>
              <a:srgbClr val="B4532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24128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4A5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 13–15  ·  TRUST &amp; SAFETY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30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Trust you can check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731520" y="1874520"/>
            <a:ext cx="10725912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9CFC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1051560" y="1874520"/>
            <a:ext cx="731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45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1874520" y="2103120"/>
            <a:ext cx="822960" cy="292608"/>
          </a:xfrm>
          <a:prstGeom prst="roundRect">
            <a:avLst>
              <a:gd name="adj" fmla="val 25000"/>
            </a:avLst>
          </a:prstGeom>
          <a:solidFill>
            <a:srgbClr val="B4532A"/>
          </a:solidFill>
          <a:ln w="12700">
            <a:solidFill>
              <a:srgbClr val="B4532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74520" y="210312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0574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30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 a roommate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1874520" y="2514600"/>
            <a:ext cx="6035040" cy="384048"/>
          </a:xfrm>
          <a:prstGeom prst="roundRect">
            <a:avLst>
              <a:gd name="adj" fmla="val 14286"/>
            </a:avLst>
          </a:prstGeom>
          <a:solidFill>
            <a:srgbClr val="F3ECE1"/>
          </a:solidFill>
          <a:ln w="12700">
            <a:solidFill>
              <a:srgbClr val="F3ECE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965960" y="2514600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630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/api/v1/review/add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183880" y="2103120"/>
            <a:ext cx="0" cy="777240"/>
          </a:xfrm>
          <a:prstGeom prst="line">
            <a:avLst/>
          </a:prstGeom>
          <a:noFill/>
          <a:ln w="12700">
            <a:solidFill>
              <a:srgbClr val="D9CFC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12480" y="2011680"/>
            <a:ext cx="27706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4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after the agreement ends. Both users must be in it; one review each.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731520" y="3337560"/>
            <a:ext cx="10725912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9CFC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1051560" y="3337560"/>
            <a:ext cx="731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45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1874520" y="3566160"/>
            <a:ext cx="822960" cy="292608"/>
          </a:xfrm>
          <a:prstGeom prst="roundRect">
            <a:avLst>
              <a:gd name="adj" fmla="val 25000"/>
            </a:avLst>
          </a:prstGeom>
          <a:solidFill>
            <a:srgbClr val="2F6F62"/>
          </a:solidFill>
          <a:ln w="12700">
            <a:solidFill>
              <a:srgbClr val="2F6F6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874520" y="356616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2834640" y="35204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30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Average rating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1874520" y="3977640"/>
            <a:ext cx="6035040" cy="384048"/>
          </a:xfrm>
          <a:prstGeom prst="roundRect">
            <a:avLst>
              <a:gd name="adj" fmla="val 14286"/>
            </a:avLst>
          </a:prstGeom>
          <a:solidFill>
            <a:srgbClr val="F3ECE1"/>
          </a:solidFill>
          <a:ln w="12700">
            <a:solidFill>
              <a:srgbClr val="F3ECE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965960" y="3977640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630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/api/v1/review/get-average-rating/{userId}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183880" y="3566160"/>
            <a:ext cx="0" cy="777240"/>
          </a:xfrm>
          <a:prstGeom prst="line">
            <a:avLst/>
          </a:prstGeom>
          <a:noFill/>
          <a:ln w="12700">
            <a:solidFill>
              <a:srgbClr val="D9CFC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412480" y="3474720"/>
            <a:ext cx="27706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4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Averages every rating a user received with JPQL. Returns 0.0 if none.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731520" y="4800600"/>
            <a:ext cx="10725912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9CFC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1051560" y="4800600"/>
            <a:ext cx="731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45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2800" dirty="0"/>
          </a:p>
        </p:txBody>
      </p:sp>
      <p:sp>
        <p:nvSpPr>
          <p:cNvPr id="25" name="Shape 23"/>
          <p:cNvSpPr/>
          <p:nvPr/>
        </p:nvSpPr>
        <p:spPr>
          <a:xfrm>
            <a:off x="1874520" y="5029200"/>
            <a:ext cx="822960" cy="292608"/>
          </a:xfrm>
          <a:prstGeom prst="roundRect">
            <a:avLst>
              <a:gd name="adj" fmla="val 25000"/>
            </a:avLst>
          </a:prstGeom>
          <a:solidFill>
            <a:srgbClr val="8C6A1F"/>
          </a:solidFill>
          <a:ln w="12700">
            <a:solidFill>
              <a:srgbClr val="8C6A1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874520" y="502920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2834640" y="49834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30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Resolve a report</a:t>
            </a:r>
            <a:endParaRPr lang="en-US" sz="1900" dirty="0"/>
          </a:p>
        </p:txBody>
      </p:sp>
      <p:sp>
        <p:nvSpPr>
          <p:cNvPr id="28" name="Shape 26"/>
          <p:cNvSpPr/>
          <p:nvPr/>
        </p:nvSpPr>
        <p:spPr>
          <a:xfrm>
            <a:off x="1874520" y="5440680"/>
            <a:ext cx="6035040" cy="384048"/>
          </a:xfrm>
          <a:prstGeom prst="roundRect">
            <a:avLst>
              <a:gd name="adj" fmla="val 14286"/>
            </a:avLst>
          </a:prstGeom>
          <a:solidFill>
            <a:srgbClr val="F3ECE1"/>
          </a:solidFill>
          <a:ln w="12700">
            <a:solidFill>
              <a:srgbClr val="F3ECE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965960" y="5440680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630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/api/v1/admin/update-report-status/adminid/{adminId}/reportid/{reportId}/status/{status}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8183880" y="5029200"/>
            <a:ext cx="0" cy="777240"/>
          </a:xfrm>
          <a:prstGeom prst="line">
            <a:avLst/>
          </a:prstGeom>
          <a:noFill/>
          <a:ln w="12700">
            <a:solidFill>
              <a:srgbClr val="D9CFC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412480" y="4937760"/>
            <a:ext cx="27706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4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only. PENDING → REVIEWED or DISMISSED, once. Any letter case works.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731520" y="63550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Rifqa  ·  Spring Boot Capstone 2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10085832" y="6355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13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630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3ECE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6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20040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i="1" dirty="0">
                <a:solidFill>
                  <a:srgbClr val="EDB8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114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Rifqa  ·  Find a roommate who fits your life.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75320" y="1234440"/>
            <a:ext cx="402336" cy="347472"/>
          </a:xfrm>
          <a:prstGeom prst="triangle">
            <a:avLst/>
          </a:prstGeom>
          <a:solidFill>
            <a:srgbClr val="B4532A"/>
          </a:solidFill>
          <a:ln w="12700">
            <a:solidFill>
              <a:srgbClr val="B4532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87384" y="1234440"/>
            <a:ext cx="402336" cy="347472"/>
          </a:xfrm>
          <a:prstGeom prst="triangle">
            <a:avLst/>
          </a:prstGeom>
          <a:solidFill>
            <a:srgbClr val="EDB897">
              <a:alpha val="65000"/>
            </a:srgbClr>
          </a:solidFill>
          <a:ln w="12700">
            <a:solidFill>
              <a:srgbClr val="EDB897">
                <a:alpha val="6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99448" y="1234440"/>
            <a:ext cx="402336" cy="347472"/>
          </a:xfrm>
          <a:prstGeom prst="triangle">
            <a:avLst/>
          </a:prstGeom>
          <a:solidFill>
            <a:srgbClr val="EDB897"/>
          </a:solidFill>
          <a:ln w="12700">
            <a:solidFill>
              <a:srgbClr val="EDB89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1512" y="1234440"/>
            <a:ext cx="402336" cy="347472"/>
          </a:xfrm>
          <a:prstGeom prst="triangle">
            <a:avLst/>
          </a:prstGeom>
          <a:solidFill>
            <a:srgbClr val="B4532A">
              <a:alpha val="65000"/>
            </a:srgbClr>
          </a:solidFill>
          <a:ln w="12700">
            <a:solidFill>
              <a:srgbClr val="B4532A">
                <a:alpha val="6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323576" y="1234440"/>
            <a:ext cx="402336" cy="347472"/>
          </a:xfrm>
          <a:prstGeom prst="triangle">
            <a:avLst/>
          </a:prstGeom>
          <a:solidFill>
            <a:srgbClr val="EDB897"/>
          </a:solidFill>
          <a:ln w="12700">
            <a:solidFill>
              <a:srgbClr val="EDB89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835640" y="1234440"/>
            <a:ext cx="402336" cy="347472"/>
          </a:xfrm>
          <a:prstGeom prst="triangle">
            <a:avLst/>
          </a:prstGeom>
          <a:solidFill>
            <a:srgbClr val="EDB897">
              <a:alpha val="65000"/>
            </a:srgbClr>
          </a:solidFill>
          <a:ln w="12700">
            <a:solidFill>
              <a:srgbClr val="EDB897">
                <a:alpha val="6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75320" y="1691640"/>
            <a:ext cx="402336" cy="347472"/>
          </a:xfrm>
          <a:prstGeom prst="triangle">
            <a:avLst/>
          </a:prstGeom>
          <a:solidFill>
            <a:srgbClr val="EDB897">
              <a:alpha val="65000"/>
            </a:srgbClr>
          </a:solidFill>
          <a:ln w="12700">
            <a:solidFill>
              <a:srgbClr val="EDB897">
                <a:alpha val="6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87384" y="1691640"/>
            <a:ext cx="402336" cy="347472"/>
          </a:xfrm>
          <a:prstGeom prst="triangle">
            <a:avLst/>
          </a:prstGeom>
          <a:solidFill>
            <a:srgbClr val="EDB897"/>
          </a:solidFill>
          <a:ln w="12700">
            <a:solidFill>
              <a:srgbClr val="EDB89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299448" y="1691640"/>
            <a:ext cx="402336" cy="347472"/>
          </a:xfrm>
          <a:prstGeom prst="triangle">
            <a:avLst/>
          </a:prstGeom>
          <a:solidFill>
            <a:srgbClr val="B4532A">
              <a:alpha val="65000"/>
            </a:srgbClr>
          </a:solidFill>
          <a:ln w="12700">
            <a:solidFill>
              <a:srgbClr val="B4532A">
                <a:alpha val="6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811512" y="1691640"/>
            <a:ext cx="402336" cy="347472"/>
          </a:xfrm>
          <a:prstGeom prst="triangle">
            <a:avLst/>
          </a:prstGeom>
          <a:solidFill>
            <a:srgbClr val="EDB897"/>
          </a:solidFill>
          <a:ln w="12700">
            <a:solidFill>
              <a:srgbClr val="EDB89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323576" y="1691640"/>
            <a:ext cx="402336" cy="347472"/>
          </a:xfrm>
          <a:prstGeom prst="triangle">
            <a:avLst/>
          </a:prstGeom>
          <a:solidFill>
            <a:srgbClr val="EDB897">
              <a:alpha val="65000"/>
            </a:srgbClr>
          </a:solidFill>
          <a:ln w="12700">
            <a:solidFill>
              <a:srgbClr val="EDB897">
                <a:alpha val="6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835640" y="1691640"/>
            <a:ext cx="402336" cy="347472"/>
          </a:xfrm>
          <a:prstGeom prst="triangle">
            <a:avLst/>
          </a:prstGeom>
          <a:solidFill>
            <a:srgbClr val="B4532A"/>
          </a:solidFill>
          <a:ln w="12700">
            <a:solidFill>
              <a:srgbClr val="B4532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75320" y="2148840"/>
            <a:ext cx="402336" cy="347472"/>
          </a:xfrm>
          <a:prstGeom prst="triangle">
            <a:avLst/>
          </a:prstGeom>
          <a:solidFill>
            <a:srgbClr val="EDB897"/>
          </a:solidFill>
          <a:ln w="12700">
            <a:solidFill>
              <a:srgbClr val="EDB89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787384" y="2148840"/>
            <a:ext cx="402336" cy="347472"/>
          </a:xfrm>
          <a:prstGeom prst="triangle">
            <a:avLst/>
          </a:prstGeom>
          <a:solidFill>
            <a:srgbClr val="B4532A">
              <a:alpha val="65000"/>
            </a:srgbClr>
          </a:solidFill>
          <a:ln w="12700">
            <a:solidFill>
              <a:srgbClr val="B4532A">
                <a:alpha val="6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299448" y="2148840"/>
            <a:ext cx="402336" cy="347472"/>
          </a:xfrm>
          <a:prstGeom prst="triangle">
            <a:avLst/>
          </a:prstGeom>
          <a:solidFill>
            <a:srgbClr val="EDB897"/>
          </a:solidFill>
          <a:ln w="12700">
            <a:solidFill>
              <a:srgbClr val="EDB89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811512" y="2148840"/>
            <a:ext cx="402336" cy="347472"/>
          </a:xfrm>
          <a:prstGeom prst="triangle">
            <a:avLst/>
          </a:prstGeom>
          <a:solidFill>
            <a:srgbClr val="EDB897">
              <a:alpha val="65000"/>
            </a:srgbClr>
          </a:solidFill>
          <a:ln w="12700">
            <a:solidFill>
              <a:srgbClr val="EDB897">
                <a:alpha val="6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323576" y="2148840"/>
            <a:ext cx="402336" cy="347472"/>
          </a:xfrm>
          <a:prstGeom prst="triangle">
            <a:avLst/>
          </a:prstGeom>
          <a:solidFill>
            <a:srgbClr val="B4532A"/>
          </a:solidFill>
          <a:ln w="12700">
            <a:solidFill>
              <a:srgbClr val="B4532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835640" y="2148840"/>
            <a:ext cx="402336" cy="347472"/>
          </a:xfrm>
          <a:prstGeom prst="triangle">
            <a:avLst/>
          </a:prstGeom>
          <a:solidFill>
            <a:srgbClr val="EDB897">
              <a:alpha val="65000"/>
            </a:srgbClr>
          </a:solidFill>
          <a:ln w="12700">
            <a:solidFill>
              <a:srgbClr val="EDB897">
                <a:alpha val="6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75320" y="2606040"/>
            <a:ext cx="402336" cy="347472"/>
          </a:xfrm>
          <a:prstGeom prst="triangle">
            <a:avLst/>
          </a:prstGeom>
          <a:solidFill>
            <a:srgbClr val="B4532A">
              <a:alpha val="65000"/>
            </a:srgbClr>
          </a:solidFill>
          <a:ln w="12700">
            <a:solidFill>
              <a:srgbClr val="B4532A">
                <a:alpha val="6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787384" y="2606040"/>
            <a:ext cx="402336" cy="347472"/>
          </a:xfrm>
          <a:prstGeom prst="triangle">
            <a:avLst/>
          </a:prstGeom>
          <a:solidFill>
            <a:srgbClr val="EDB897"/>
          </a:solidFill>
          <a:ln w="12700">
            <a:solidFill>
              <a:srgbClr val="EDB89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299448" y="2606040"/>
            <a:ext cx="402336" cy="347472"/>
          </a:xfrm>
          <a:prstGeom prst="triangle">
            <a:avLst/>
          </a:prstGeom>
          <a:solidFill>
            <a:srgbClr val="EDB897">
              <a:alpha val="65000"/>
            </a:srgbClr>
          </a:solidFill>
          <a:ln w="12700">
            <a:solidFill>
              <a:srgbClr val="EDB897">
                <a:alpha val="6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811512" y="2606040"/>
            <a:ext cx="402336" cy="347472"/>
          </a:xfrm>
          <a:prstGeom prst="triangle">
            <a:avLst/>
          </a:prstGeom>
          <a:solidFill>
            <a:srgbClr val="B4532A"/>
          </a:solidFill>
          <a:ln w="12700">
            <a:solidFill>
              <a:srgbClr val="B4532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323576" y="2606040"/>
            <a:ext cx="402336" cy="347472"/>
          </a:xfrm>
          <a:prstGeom prst="triangle">
            <a:avLst/>
          </a:prstGeom>
          <a:solidFill>
            <a:srgbClr val="EDB897">
              <a:alpha val="65000"/>
            </a:srgbClr>
          </a:solidFill>
          <a:ln w="12700">
            <a:solidFill>
              <a:srgbClr val="EDB897">
                <a:alpha val="6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835640" y="2606040"/>
            <a:ext cx="402336" cy="347472"/>
          </a:xfrm>
          <a:prstGeom prst="triangle">
            <a:avLst/>
          </a:prstGeom>
          <a:solidFill>
            <a:srgbClr val="EDB897"/>
          </a:solidFill>
          <a:ln w="12700">
            <a:solidFill>
              <a:srgbClr val="EDB89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75320" y="3063240"/>
            <a:ext cx="402336" cy="347472"/>
          </a:xfrm>
          <a:prstGeom prst="triangle">
            <a:avLst/>
          </a:prstGeom>
          <a:solidFill>
            <a:srgbClr val="EDB897"/>
          </a:solidFill>
          <a:ln w="12700">
            <a:solidFill>
              <a:srgbClr val="EDB89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787384" y="3063240"/>
            <a:ext cx="402336" cy="347472"/>
          </a:xfrm>
          <a:prstGeom prst="triangle">
            <a:avLst/>
          </a:prstGeom>
          <a:solidFill>
            <a:srgbClr val="EDB897">
              <a:alpha val="65000"/>
            </a:srgbClr>
          </a:solidFill>
          <a:ln w="12700">
            <a:solidFill>
              <a:srgbClr val="EDB897">
                <a:alpha val="6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299448" y="3063240"/>
            <a:ext cx="402336" cy="347472"/>
          </a:xfrm>
          <a:prstGeom prst="triangle">
            <a:avLst/>
          </a:prstGeom>
          <a:solidFill>
            <a:srgbClr val="B4532A"/>
          </a:solidFill>
          <a:ln w="12700">
            <a:solidFill>
              <a:srgbClr val="B4532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811512" y="3063240"/>
            <a:ext cx="402336" cy="347472"/>
          </a:xfrm>
          <a:prstGeom prst="triangle">
            <a:avLst/>
          </a:prstGeom>
          <a:solidFill>
            <a:srgbClr val="EDB897">
              <a:alpha val="65000"/>
            </a:srgbClr>
          </a:solidFill>
          <a:ln w="12700">
            <a:solidFill>
              <a:srgbClr val="EDB897">
                <a:alpha val="6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323576" y="3063240"/>
            <a:ext cx="402336" cy="347472"/>
          </a:xfrm>
          <a:prstGeom prst="triangle">
            <a:avLst/>
          </a:prstGeom>
          <a:solidFill>
            <a:srgbClr val="EDB897"/>
          </a:solidFill>
          <a:ln w="12700">
            <a:solidFill>
              <a:srgbClr val="EDB89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835640" y="3063240"/>
            <a:ext cx="402336" cy="347472"/>
          </a:xfrm>
          <a:prstGeom prst="triangle">
            <a:avLst/>
          </a:prstGeom>
          <a:solidFill>
            <a:srgbClr val="B4532A">
              <a:alpha val="65000"/>
            </a:srgbClr>
          </a:solidFill>
          <a:ln w="12700">
            <a:solidFill>
              <a:srgbClr val="B4532A">
                <a:alpha val="6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75320" y="3520440"/>
            <a:ext cx="402336" cy="347472"/>
          </a:xfrm>
          <a:prstGeom prst="triangle">
            <a:avLst/>
          </a:prstGeom>
          <a:solidFill>
            <a:srgbClr val="EDB897">
              <a:alpha val="65000"/>
            </a:srgbClr>
          </a:solidFill>
          <a:ln w="12700">
            <a:solidFill>
              <a:srgbClr val="EDB897">
                <a:alpha val="6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787384" y="3520440"/>
            <a:ext cx="402336" cy="347472"/>
          </a:xfrm>
          <a:prstGeom prst="triangle">
            <a:avLst/>
          </a:prstGeom>
          <a:solidFill>
            <a:srgbClr val="B4532A"/>
          </a:solidFill>
          <a:ln w="12700">
            <a:solidFill>
              <a:srgbClr val="B4532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299448" y="3520440"/>
            <a:ext cx="402336" cy="347472"/>
          </a:xfrm>
          <a:prstGeom prst="triangle">
            <a:avLst/>
          </a:prstGeom>
          <a:solidFill>
            <a:srgbClr val="EDB897">
              <a:alpha val="65000"/>
            </a:srgbClr>
          </a:solidFill>
          <a:ln w="12700">
            <a:solidFill>
              <a:srgbClr val="EDB897">
                <a:alpha val="6500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811512" y="3520440"/>
            <a:ext cx="402336" cy="347472"/>
          </a:xfrm>
          <a:prstGeom prst="triangle">
            <a:avLst/>
          </a:prstGeom>
          <a:solidFill>
            <a:srgbClr val="EDB897"/>
          </a:solidFill>
          <a:ln w="12700">
            <a:solidFill>
              <a:srgbClr val="EDB89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0323576" y="3520440"/>
            <a:ext cx="402336" cy="347472"/>
          </a:xfrm>
          <a:prstGeom prst="triangle">
            <a:avLst/>
          </a:prstGeom>
          <a:solidFill>
            <a:srgbClr val="B4532A">
              <a:alpha val="65000"/>
            </a:srgbClr>
          </a:solidFill>
          <a:ln w="12700">
            <a:solidFill>
              <a:srgbClr val="B4532A">
                <a:alpha val="6500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835640" y="3520440"/>
            <a:ext cx="402336" cy="347472"/>
          </a:xfrm>
          <a:prstGeom prst="triangle">
            <a:avLst/>
          </a:prstGeom>
          <a:solidFill>
            <a:srgbClr val="EDB897"/>
          </a:solidFill>
          <a:ln w="12700">
            <a:solidFill>
              <a:srgbClr val="EDB897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275320" y="3977640"/>
            <a:ext cx="402336" cy="347472"/>
          </a:xfrm>
          <a:prstGeom prst="triangle">
            <a:avLst/>
          </a:prstGeom>
          <a:solidFill>
            <a:srgbClr val="B4532A"/>
          </a:solidFill>
          <a:ln w="12700">
            <a:solidFill>
              <a:srgbClr val="B4532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787384" y="3977640"/>
            <a:ext cx="402336" cy="347472"/>
          </a:xfrm>
          <a:prstGeom prst="triangle">
            <a:avLst/>
          </a:prstGeom>
          <a:solidFill>
            <a:srgbClr val="EDB897">
              <a:alpha val="65000"/>
            </a:srgbClr>
          </a:solidFill>
          <a:ln w="12700">
            <a:solidFill>
              <a:srgbClr val="EDB897">
                <a:alpha val="6500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299448" y="3977640"/>
            <a:ext cx="402336" cy="347472"/>
          </a:xfrm>
          <a:prstGeom prst="triangle">
            <a:avLst/>
          </a:prstGeom>
          <a:solidFill>
            <a:srgbClr val="EDB897"/>
          </a:solidFill>
          <a:ln w="12700">
            <a:solidFill>
              <a:srgbClr val="EDB897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811512" y="3977640"/>
            <a:ext cx="402336" cy="347472"/>
          </a:xfrm>
          <a:prstGeom prst="triangle">
            <a:avLst/>
          </a:prstGeom>
          <a:solidFill>
            <a:srgbClr val="B4532A">
              <a:alpha val="65000"/>
            </a:srgbClr>
          </a:solidFill>
          <a:ln w="12700">
            <a:solidFill>
              <a:srgbClr val="B4532A">
                <a:alpha val="6500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323576" y="3977640"/>
            <a:ext cx="402336" cy="347472"/>
          </a:xfrm>
          <a:prstGeom prst="triangle">
            <a:avLst/>
          </a:prstGeom>
          <a:solidFill>
            <a:srgbClr val="EDB897"/>
          </a:solidFill>
          <a:ln w="12700">
            <a:solidFill>
              <a:srgbClr val="EDB89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0835640" y="3977640"/>
            <a:ext cx="402336" cy="347472"/>
          </a:xfrm>
          <a:prstGeom prst="triangle">
            <a:avLst/>
          </a:prstGeom>
          <a:solidFill>
            <a:srgbClr val="EDB897">
              <a:alpha val="65000"/>
            </a:srgbClr>
          </a:solidFill>
          <a:ln w="12700">
            <a:solidFill>
              <a:srgbClr val="EDB897">
                <a:alpha val="65000"/>
              </a:srgbClr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31520" y="63550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Rifqa  ·  Spring Boot Capstone 2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10085832" y="6355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D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Rifqa – Roommate Matching API</dc:title>
  <dc:subject>PptxGenJS Presentation</dc:subject>
  <dc:creator>PptxGenJS</dc:creator>
  <cp:lastModifiedBy>PptxGenJS</cp:lastModifiedBy>
  <cp:revision>1</cp:revision>
  <dcterms:created xsi:type="dcterms:W3CDTF">2026-09-27T22:17:33Z</dcterms:created>
  <dcterms:modified xsi:type="dcterms:W3CDTF">2026-09-27T22:17:33Z</dcterms:modified>
</cp:coreProperties>
</file>